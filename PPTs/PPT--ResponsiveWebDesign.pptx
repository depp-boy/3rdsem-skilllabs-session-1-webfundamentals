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2" r:id="rId22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8288000" cy="10287000"/>
  <p:notesSz cx="6858000" cy="9144000"/>
  <p:embeddedFontLst>
    <p:embeddedFont>
      <p:font typeface="Anton" charset="1" panose="00000500000000000000"/>
      <p:regular r:id="rId40"/>
    </p:embeddedFont>
    <p:embeddedFont>
      <p:font typeface="Inter" charset="1" panose="020B0502030000000004"/>
      <p:regular r:id="rId41"/>
    </p:embeddedFont>
    <p:embeddedFont>
      <p:font typeface="Inter Medium" charset="1" panose="02000503000000020004"/>
      <p:regular r:id="rId42"/>
    </p:embeddedFont>
    <p:embeddedFont>
      <p:font typeface="DM Serif Display" charset="1" panose="00000000000000000000"/>
      <p:regular r:id="rId43"/>
    </p:embeddedFont>
    <p:embeddedFont>
      <p:font typeface="DM Sans" charset="1" panose="00000000000000000000"/>
      <p:regular r:id="rId44"/>
    </p:embeddedFont>
    <p:embeddedFont>
      <p:font typeface="Inter Bold" charset="1" panose="020B0802030000000004"/>
      <p:regular r:id="rId45"/>
    </p:embeddedFont>
    <p:embeddedFont>
      <p:font typeface="DM Sans Bold" charset="1" panose="000000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.xml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8324">
            <a:off x="1153800" y="7869185"/>
            <a:ext cx="969389" cy="1306774"/>
          </a:xfrm>
          <a:custGeom>
            <a:avLst/>
            <a:gdLst/>
            <a:ahLst/>
            <a:cxnLst/>
            <a:rect r="r" b="b" t="t" l="l"/>
            <a:pathLst>
              <a:path h="1306774" w="969389">
                <a:moveTo>
                  <a:pt x="0" y="0"/>
                </a:moveTo>
                <a:lnTo>
                  <a:pt x="969389" y="0"/>
                </a:lnTo>
                <a:lnTo>
                  <a:pt x="969389" y="1306774"/>
                </a:lnTo>
                <a:lnTo>
                  <a:pt x="0" y="130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7414666" y="2166144"/>
            <a:ext cx="1127677" cy="1127677"/>
          </a:xfrm>
          <a:custGeom>
            <a:avLst/>
            <a:gdLst/>
            <a:ahLst/>
            <a:cxnLst/>
            <a:rect r="r" b="b" t="t" l="l"/>
            <a:pathLst>
              <a:path h="1127677" w="1127677">
                <a:moveTo>
                  <a:pt x="0" y="0"/>
                </a:moveTo>
                <a:lnTo>
                  <a:pt x="1127677" y="0"/>
                </a:lnTo>
                <a:lnTo>
                  <a:pt x="1127677" y="1127677"/>
                </a:lnTo>
                <a:lnTo>
                  <a:pt x="0" y="1127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2569785" y="2788985"/>
            <a:ext cx="4844881" cy="5733587"/>
          </a:xfrm>
          <a:custGeom>
            <a:avLst/>
            <a:gdLst/>
            <a:ahLst/>
            <a:cxnLst/>
            <a:rect r="r" b="b" t="t" l="l"/>
            <a:pathLst>
              <a:path h="5733587" w="4844881">
                <a:moveTo>
                  <a:pt x="0" y="0"/>
                </a:moveTo>
                <a:lnTo>
                  <a:pt x="4844881" y="0"/>
                </a:lnTo>
                <a:lnTo>
                  <a:pt x="4844881" y="5733587"/>
                </a:lnTo>
                <a:lnTo>
                  <a:pt x="0" y="5733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9465079" y="3054039"/>
            <a:ext cx="8046720" cy="32918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2480"/>
              </a:lnSpc>
            </a:pPr>
            <a:r>
              <a:rPr sz="10400">
                <a:solidFill>
                  <a:srgbClr val="000000"/>
                </a:solidFill>
                <a:latin typeface="Anton"/>
              </a:rPr>
              <a:t>RESPONSIVE</a:t>
            </a:r>
          </a:p>
          <a:p>
            <a:r>
              <a:rPr sz="10400">
                <a:solidFill>
                  <a:srgbClr val="000000"/>
                </a:solidFill>
                <a:latin typeface="Anton"/>
              </a:rPr>
              <a:t>WEB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65079" y="6307219"/>
            <a:ext cx="710789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sz="2200">
                <a:solidFill>
                  <a:srgbClr val="222222"/>
                </a:solidFill>
                <a:latin typeface="Inter"/>
              </a:rPr>
              <a:t>Skill Lab Module 1: CSS Flexbox, Mobile-First Media Queries, Grid &amp; Integrated Lab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97890" y="990600"/>
            <a:ext cx="135017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  <p:sp>
        <p:nvSpPr>
          <p:cNvPr name="TextBox 10" id="10"/>
          <p:cNvSpPr txBox="true"/>
          <p:nvPr/>
        </p:nvSpPr>
        <p:spPr>
          <a:xfrm rot="-1787404">
            <a:off x="1370097" y="3081723"/>
            <a:ext cx="5230104" cy="10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6"/>
              </a:lnSpc>
            </a:pPr>
            <a:r>
              <a:rPr lang="en-US" sz="6830">
                <a:solidFill>
                  <a:srgbClr val="69F2C4"/>
                </a:solidFill>
                <a:latin typeface="DM Sans"/>
                <a:ea typeface="DM Sans"/>
                <a:cs typeface="DM Sans"/>
                <a:sym typeface="DM Sans"/>
              </a:rPr>
              <a:t>RESPONSIVE </a:t>
            </a:r>
          </a:p>
        </p:txBody>
      </p:sp>
      <p:sp>
        <p:nvSpPr>
          <p:cNvPr name="TextBox 11" id="11"/>
          <p:cNvSpPr txBox="true"/>
          <p:nvPr/>
        </p:nvSpPr>
        <p:spPr>
          <a:xfrm rot="-1864932">
            <a:off x="3422135" y="7491100"/>
            <a:ext cx="5230104" cy="10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6"/>
              </a:lnSpc>
            </a:pPr>
            <a:r>
              <a:rPr lang="en-US" sz="6830">
                <a:solidFill>
                  <a:srgbClr val="FFC2E8"/>
                </a:solidFill>
                <a:latin typeface="DM Sans"/>
                <a:ea typeface="DM Sans"/>
                <a:cs typeface="DM Sans"/>
                <a:sym typeface="DM Sans"/>
              </a:rPr>
              <a:t>WEB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8. CSS FLEXBOX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Inter"/>
              </a:rPr>
              <a:t>Flexbox is a one-dimensional layout model for arranging related items in a row or column.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474720"/>
            <a:ext cx="7863840" cy="5303520"/>
          </a:xfrm>
          <a:prstGeom prst="roundRect">
            <a:avLst/>
          </a:prstGeom>
          <a:solidFill>
            <a:srgbClr val="E8F0FE"/>
          </a:solidFill>
          <a:ln w="31750"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1. Flex Container (The Parent)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Created by adding display: flex; to a parent element.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Controls the overall flow direction, wrapping, spacing, and alignment.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Main Axis: Follows flex-direction (Horizontal for row, Vertical for column).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Cross Axis: Perpendicular to the Main Axis.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3474720"/>
            <a:ext cx="7955279" cy="5303520"/>
          </a:xfrm>
          <a:prstGeom prst="roundRect">
            <a:avLst/>
          </a:prstGeom>
          <a:solidFill>
            <a:srgbClr val="E6F4EA"/>
          </a:solidFill>
          <a:ln w="317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2. Flex Items (The Direct Children)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Every direct child inside a Flex Container automatically becomes a Flex Item.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Can sit side-by-side in a row or stack neatly in a column.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111111"/>
                </a:solidFill>
                <a:latin typeface="Inter"/>
              </a:rPr>
              <a:t>• Can dynamically grow or shrink to fit available screen space using the flex property.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FLEXBOX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0">
                <a:solidFill>
                  <a:srgbClr val="000000"/>
                </a:solidFill>
                <a:latin typeface="Inter"/>
              </a:rPr>
              <a:t>Every Flexbox property has an isolated live demo in ResponsiveWebDesign/1.Flexbox/: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3154680"/>
          <a:ext cx="162306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366760"/>
                <a:gridCol w="4389120"/>
              </a:tblGrid>
              <a:tr h="77724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Property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Role in Layout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Isolated Demo File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display: flex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Creates a flex formatting context on the parent container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1.display_flex_and_direction.html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flex-direction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Sets main axis direction: row (horizontal) or column (vertical)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1.display_flex_and_direction.html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justify-content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Distributes items along the MAIN axis (center, space-between)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2.justify_content.html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align-items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Aligns items along the CROSS axis (center, stretch, flex-start)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3.align_items.html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flex-wrap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Allows items to move (wrap) onto additional lines on narrow screens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4.flex_wrap_gap_and_cards.html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gap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Creates consistent spacing between rows and columns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4.flex_wrap_gap_and_cards.html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flex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Controls item grow, shrink, and ideal starting basis (e.g., 1 1 260px)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4.flex_wrap_gap_and_cards.html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FLEXBOX RESPONSIVE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Inter"/>
              </a:rPr>
              <a:t>How do we make cards sit in a row on desktop and automatically stack on mobile?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291840"/>
            <a:ext cx="6858000" cy="576072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61DAFB"/>
                </a:solidFill>
                <a:latin typeface="Inter"/>
              </a:rPr>
              <a:t>📄 4.flex_wrap_gap_and_cards.html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98C379"/>
                </a:solidFill>
                <a:latin typeface="Consolas"/>
              </a:rPr>
              <a:t>/* Parent Flex Container */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.cards {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display: flex;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flex-wrap: wrap;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gap: 20px;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98C379"/>
                </a:solidFill>
                <a:latin typeface="Consolas"/>
              </a:rPr>
              <a:t>/* Child Flex Item */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.card {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flex: 1 1 260px;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3291840"/>
            <a:ext cx="9052560" cy="5760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Line-by-Line Explanation for Students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display: flex; </a:t>
            </a:r>
            <a:r>
              <a:rPr sz="2300">
                <a:solidFill>
                  <a:srgbClr val="111111"/>
                </a:solidFill>
                <a:latin typeface="Inter"/>
              </a:rPr>
              <a:t>Turns .cards into a flexible row container.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flex-wrap: wrap; </a:t>
            </a:r>
            <a:r>
              <a:rPr sz="2300">
                <a:solidFill>
                  <a:srgbClr val="111111"/>
                </a:solidFill>
                <a:latin typeface="Inter"/>
              </a:rPr>
              <a:t>Instead of squishing cards when the screen shrinks, allows cards to drop onto a new line!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gap: 20px; </a:t>
            </a:r>
            <a:r>
              <a:rPr sz="2300">
                <a:solidFill>
                  <a:srgbClr val="111111"/>
                </a:solidFill>
                <a:latin typeface="Inter"/>
              </a:rPr>
              <a:t>Adds a clean 20px space between every card horizontally and vertically.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flex: 1 1 260px; </a:t>
            </a:r>
            <a:r>
              <a:rPr sz="2300">
                <a:solidFill>
                  <a:srgbClr val="111111"/>
                </a:solidFill>
                <a:latin typeface="Inter"/>
              </a:rPr>
              <a:t>Shorthand for three values:
  • flex-grow: 1 (Grow to fill leftover space)
  • flex-shrink: 1 (Shrink if screen is tiny)
  • flex-basis: 260px (Ideal starting width per card)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9. RESPONSIVE DESIGN &amp; MEDIA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" y="2560320"/>
            <a:ext cx="8321040" cy="6583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Mobile-First Approach &amp; Media Queries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What is RWD? </a:t>
            </a:r>
            <a:r>
              <a:rPr sz="2400">
                <a:solidFill>
                  <a:srgbClr val="111111"/>
                </a:solidFill>
                <a:latin typeface="Inter"/>
              </a:rPr>
              <a:t>Enables a webpage to adapt smoothly to mobile, tablet, and desktop screens.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Mobile-First Approach: </a:t>
            </a:r>
            <a:r>
              <a:rPr sz="2400">
                <a:solidFill>
                  <a:srgbClr val="111111"/>
                </a:solidFill>
                <a:latin typeface="Inter"/>
              </a:rPr>
              <a:t>Write the compact, stacked mobile layout FIRST as your default CSS, then add @media (min-width: ...) rules for larger screens!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How @media Works: </a:t>
            </a:r>
            <a:r>
              <a:rPr sz="2400">
                <a:solidFill>
                  <a:srgbClr val="111111"/>
                </a:solidFill>
                <a:latin typeface="Inter"/>
              </a:rPr>
              <a:t>@media (min-width: 768px) acts like an 'IF statement' in CSS — the styles inside only activate when the browser viewport is 768px or wider.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560320"/>
            <a:ext cx="7589520" cy="658368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61DAFB"/>
                </a:solidFill>
                <a:latin typeface="Inter"/>
              </a:rPr>
              <a:t>📄 1.media_query_header.html (Section 9.1)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8C379"/>
                </a:solidFill>
                <a:latin typeface="Consolas"/>
              </a:rPr>
              <a:t>/* 1. Mobile Base Layout (&lt; 768px) */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header {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display: flex;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flex-direction: column;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gap: 15px;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8C379"/>
                </a:solidFill>
                <a:latin typeface="Consolas"/>
              </a:rPr>
              <a:t>/* 2. Tablet &amp; Desktop (&gt;= 768px) */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@media (min-width: 768px) {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header {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flex-direction: row;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align-items: center;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justify-content: space-between;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9.2 RESPONSIVE DESIGN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Inter"/>
              </a:rPr>
              <a:t>6 Golden Rules for Building Responsive Webpages: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246120"/>
            <a:ext cx="16230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1. Flexible Dimensions: </a:t>
            </a:r>
            <a:r>
              <a:rPr sz="2700">
                <a:solidFill>
                  <a:srgbClr val="000000"/>
                </a:solidFill>
                <a:latin typeface="Inter"/>
              </a:rPr>
              <a:t>Prefer relative units (%, fr, rem) instead of rigid fixed pixel widths (like width: 1000px).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2. Cap Maximum Width: </a:t>
            </a:r>
            <a:r>
              <a:rPr sz="2700">
                <a:solidFill>
                  <a:srgbClr val="000000"/>
                </a:solidFill>
                <a:latin typeface="Inter"/>
              </a:rPr>
              <a:t>Use max-width (e.g., max-width: 1200px) so content never stretches uncomfortably wide on large monitors.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3. Responsive Media: </a:t>
            </a:r>
            <a:r>
              <a:rPr sz="2700">
                <a:solidFill>
                  <a:srgbClr val="000000"/>
                </a:solidFill>
                <a:latin typeface="Inter"/>
              </a:rPr>
              <a:t>Always apply max-width: 100%; height: auto; to images so they scale down cleanly.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4. Adaptable Component Groups: </a:t>
            </a:r>
            <a:r>
              <a:rPr sz="2700">
                <a:solidFill>
                  <a:srgbClr val="000000"/>
                </a:solidFill>
                <a:latin typeface="Inter"/>
              </a:rPr>
              <a:t>Use Flexbox wrapping (flex-wrap: wrap) and gap for card rows and navigation bars.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5. Multi-Viewport Testing: </a:t>
            </a:r>
            <a:r>
              <a:rPr sz="2700">
                <a:solidFill>
                  <a:srgbClr val="000000"/>
                </a:solidFill>
                <a:latin typeface="Inter"/>
              </a:rPr>
              <a:t>Test narrow (mobile), medium (tablet), and wide (desktop) screens using Browser DevTools (Ctrl+Shift+M).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6. Prevent Layout Bugs: </a:t>
            </a:r>
            <a:r>
              <a:rPr sz="2700">
                <a:solidFill>
                  <a:srgbClr val="000000"/>
                </a:solidFill>
                <a:latin typeface="Inter"/>
              </a:rPr>
              <a:t>Check for unwanted horizontal scrolling/overflow, clipped text, and tiny touch targets.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9.3 DISPLAY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000000"/>
                </a:solidFill>
                <a:latin typeface="Inter"/>
              </a:rPr>
              <a:t>Comparing Visibility &amp; Positioning Properties (Demos in 2.Media_Queries_and_Properties/):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246120"/>
            <a:ext cx="7863840" cy="5852160"/>
          </a:xfrm>
          <a:prstGeom prst="roundRect">
            <a:avLst/>
          </a:prstGeom>
          <a:solidFill>
            <a:srgbClr val="FFF0E6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display: none  vs  visibility: hidden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display: none; </a:t>
            </a:r>
            <a:r>
              <a:rPr sz="2400">
                <a:solidFill>
                  <a:srgbClr val="111111"/>
                </a:solidFill>
                <a:latin typeface="Inter"/>
              </a:rPr>
              <a:t>Removes the element from the page completely. It takes up ZERO space, and adjacent elements slide into its spot.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visibility: hidden; </a:t>
            </a:r>
            <a:r>
              <a:rPr sz="2400">
                <a:solidFill>
                  <a:srgbClr val="111111"/>
                </a:solidFill>
                <a:latin typeface="Inter"/>
              </a:rPr>
              <a:t>Hides the element visually, but KEEPS its empty space in the layout.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📄 Demo: </a:t>
            </a:r>
            <a:r>
              <a:rPr sz="2400">
                <a:solidFill>
                  <a:srgbClr val="111111"/>
                </a:solidFill>
                <a:latin typeface="Inter"/>
              </a:rPr>
              <a:t>2.display_none_vs_visibility_hidden.html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3246120"/>
            <a:ext cx="7955279" cy="5852160"/>
          </a:xfrm>
          <a:prstGeom prst="roundRect">
            <a:avLst/>
          </a:prstGeom>
          <a:solidFill>
            <a:srgbClr val="E8F0FE"/>
          </a:solidFill>
          <a:ln w="31750"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position: relative  vs  position: absolute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position: relative; </a:t>
            </a:r>
            <a:r>
              <a:rPr sz="2400">
                <a:solidFill>
                  <a:srgbClr val="111111"/>
                </a:solidFill>
                <a:latin typeface="Inter"/>
              </a:rPr>
              <a:t>Moves an element relative to its normal spot without affecting surrounding elements. Acts as the anchor for absolute children.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position: absolute; </a:t>
            </a:r>
            <a:r>
              <a:rPr sz="2400">
                <a:solidFill>
                  <a:srgbClr val="111111"/>
                </a:solidFill>
                <a:latin typeface="Inter"/>
              </a:rPr>
              <a:t>Removes the element from normal flow and places it relative to its nearest positioned ancestor (e.g., a badge in the corner of a card).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📄 Demo: </a:t>
            </a:r>
            <a:r>
              <a:rPr sz="2400">
                <a:solidFill>
                  <a:srgbClr val="111111"/>
                </a:solidFill>
                <a:latin typeface="Inter"/>
              </a:rPr>
              <a:t>3.position_relative_and_absolute.html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9.3 CSS GRID &amp; MOBILE HIDING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" y="2560320"/>
            <a:ext cx="8503920" cy="6583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 bIns="201168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Flexbox (1D) vs CSS Grid (2D)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Flexbox (1-Dimensional): </a:t>
            </a:r>
            <a:r>
              <a:rPr sz="2300">
                <a:solidFill>
                  <a:srgbClr val="111111"/>
                </a:solidFill>
                <a:latin typeface="Inter"/>
              </a:rPr>
              <a:t>Arranges items in a single row OR a single column. Best for navigation bars and flexible card rows.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CSS Grid (2-Dimensional): </a:t>
            </a:r>
            <a:r>
              <a:rPr sz="2300">
                <a:solidFill>
                  <a:srgbClr val="111111"/>
                </a:solidFill>
                <a:latin typeface="Inter"/>
              </a:rPr>
              <a:t>Arranges items into rows AND columns at the exact same time! Best for photo galleries and full-page layouts.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repeat(3, 1fr): </a:t>
            </a:r>
            <a:r>
              <a:rPr sz="2300">
                <a:solidFill>
                  <a:srgbClr val="111111"/>
                </a:solidFill>
                <a:latin typeface="Inter"/>
              </a:rPr>
              <a:t>Creates 3 equal-width columns where each column takes 1 fraction (1fr) of available space.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Mobile Hide Rule: </a:t>
            </a:r>
            <a:r>
              <a:rPr sz="2300">
                <a:solidFill>
                  <a:srgbClr val="111111"/>
                </a:solidFill>
                <a:latin typeface="Inter"/>
              </a:rPr>
              <a:t>At max-width: 600px, .sidebar { display: none; } hides secondary sidebars on small phone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2560320"/>
            <a:ext cx="7406640" cy="658368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61DAFB"/>
                </a:solidFill>
                <a:latin typeface="Inter"/>
              </a:rPr>
              <a:t>📄 4.css_grid_and_mobile_hide.html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8C379"/>
                </a:solidFill>
                <a:latin typeface="Consolas"/>
              </a:rPr>
              <a:t>/* 2D Grid Gallery: 3 Equal Columns */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.gallery {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display: grid;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grid-template-columns: repeat(3, 1fr);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gap: 16px;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8C379"/>
                </a:solidFill>
                <a:latin typeface="Consolas"/>
              </a:rPr>
              <a:t>/* Hide Sidebar on Mobile Phones */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@media (max-width: 600px) {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.sidebar {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display: none; /* hide on mobile */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10. INTEGRATED LAB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37744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Inter"/>
              </a:rPr>
              <a:t>Task: Extend your HTML Student Profile / Course Webpage into a Responsive Webpage!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54680"/>
            <a:ext cx="16230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1200"/>
              </a:spcAft>
              <a:buChar char="•"/>
            </a:pPr>
            <a:r>
              <a:rPr sz="2600" b="1">
                <a:solidFill>
                  <a:srgbClr val="000000"/>
                </a:solidFill>
                <a:latin typeface="Inter"/>
              </a:rPr>
              <a:t>Step 1 (External CSS): </a:t>
            </a:r>
            <a:r>
              <a:rPr sz="2600">
                <a:solidFill>
                  <a:srgbClr val="000000"/>
                </a:solidFill>
                <a:latin typeface="Inter"/>
              </a:rPr>
              <a:t>Move all presentation rules into an external style.css file and link it with &lt;link&gt;.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600" b="1">
                <a:solidFill>
                  <a:srgbClr val="000000"/>
                </a:solidFill>
                <a:latin typeface="Inter"/>
              </a:rPr>
              <a:t>Step 2 (Selectors &amp; States): </a:t>
            </a:r>
            <a:r>
              <a:rPr sz="2600">
                <a:solidFill>
                  <a:srgbClr val="000000"/>
                </a:solidFill>
                <a:latin typeface="Inter"/>
              </a:rPr>
              <a:t>Apply element, class (.card), attribute, and pseudo-class (:hover, :focus) selectors.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600" b="1">
                <a:solidFill>
                  <a:srgbClr val="000000"/>
                </a:solidFill>
                <a:latin typeface="Inter"/>
              </a:rPr>
              <a:t>Step 3 (Box Model): </a:t>
            </a:r>
            <a:r>
              <a:rPr sz="2600">
                <a:solidFill>
                  <a:srgbClr val="000000"/>
                </a:solidFill>
                <a:latin typeface="Inter"/>
              </a:rPr>
              <a:t>Use padding, border, margin, and box-sizing: border-box for consistent components.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600" b="1">
                <a:solidFill>
                  <a:srgbClr val="000000"/>
                </a:solidFill>
                <a:latin typeface="Inter"/>
              </a:rPr>
              <a:t>Step 4 (Flexbox Layout): </a:t>
            </a:r>
            <a:r>
              <a:rPr sz="2600">
                <a:solidFill>
                  <a:srgbClr val="000000"/>
                </a:solidFill>
                <a:latin typeface="Inter"/>
              </a:rPr>
              <a:t>Create a responsive header/navigation and at least 3 course cards using Flexbox.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600" b="1">
                <a:solidFill>
                  <a:srgbClr val="000000"/>
                </a:solidFill>
                <a:latin typeface="Inter"/>
              </a:rPr>
              <a:t>Step 5 (Responsive Media &amp; Widths): </a:t>
            </a:r>
            <a:r>
              <a:rPr sz="2600">
                <a:solidFill>
                  <a:srgbClr val="000000"/>
                </a:solidFill>
                <a:latin typeface="Inter"/>
              </a:rPr>
              <a:t>Use flexible container widths (width: 92%; max-width: 1200px) and responsive images.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600" b="1">
                <a:solidFill>
                  <a:srgbClr val="000000"/>
                </a:solidFill>
                <a:latin typeface="Inter"/>
              </a:rPr>
              <a:t>Step 6 (Media Query &amp; Testing): </a:t>
            </a:r>
            <a:r>
              <a:rPr sz="2600">
                <a:solidFill>
                  <a:srgbClr val="000000"/>
                </a:solidFill>
                <a:latin typeface="Inter"/>
              </a:rPr>
              <a:t>Add @media (min-width: 768px) to adapt between narrow and wide screens; test in DevTools!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868680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Inter"/>
              </a:rPr>
              <a:t>📂 Full Solution Ready in: ResponsiveWebDesign/3.Integrated_Exercise/ (index.html + style.css)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DAHYg9-ELBc</dc:identifier>
  <dcterms:modified xsi:type="dcterms:W3CDTF">2011-08-01T06:04:30Z</dcterms:modified>
  <cp:revision>1</cp:revision>
  <dc:title>Computer Presentation</dc:title>
</cp:coreProperties>
</file>