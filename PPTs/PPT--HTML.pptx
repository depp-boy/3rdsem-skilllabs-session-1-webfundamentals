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Anton" panose="020F0502020204030204" pitchFamily="2" charset="0"/>
      <p:regular r:id="rId15"/>
    </p:embeddedFont>
    <p:embeddedFont>
      <p:font typeface="DM Sans" pitchFamily="2" charset="0"/>
      <p:regular r:id="rId16"/>
    </p:embeddedFont>
    <p:embeddedFont>
      <p:font typeface="Inter" panose="020B0604020202020204" charset="0"/>
      <p:regular r:id="rId17"/>
    </p:embeddedFont>
    <p:embeddedFont>
      <p:font typeface="Inter Bold" panose="020B0604020202020204" charset="0"/>
      <p:regular r:id="rId18"/>
    </p:embeddedFont>
    <p:embeddedFont>
      <p:font typeface="Inter Medium"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678324">
            <a:off x="1153800" y="7869185"/>
            <a:ext cx="969389" cy="1306774"/>
          </a:xfrm>
          <a:custGeom>
            <a:avLst/>
            <a:gdLst/>
            <a:ahLst/>
            <a:cxnLst/>
            <a:rect l="l" t="t" r="r" b="b"/>
            <a:pathLst>
              <a:path w="969389" h="1306774">
                <a:moveTo>
                  <a:pt x="0" y="0"/>
                </a:moveTo>
                <a:lnTo>
                  <a:pt x="969389" y="0"/>
                </a:lnTo>
                <a:lnTo>
                  <a:pt x="969389" y="1306774"/>
                </a:lnTo>
                <a:lnTo>
                  <a:pt x="0" y="13067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7414666" y="2166144"/>
            <a:ext cx="1127677" cy="1127677"/>
          </a:xfrm>
          <a:custGeom>
            <a:avLst/>
            <a:gdLst/>
            <a:ahLst/>
            <a:cxnLst/>
            <a:rect l="l" t="t" r="r" b="b"/>
            <a:pathLst>
              <a:path w="1127677" h="1127677">
                <a:moveTo>
                  <a:pt x="0" y="0"/>
                </a:moveTo>
                <a:lnTo>
                  <a:pt x="1127677" y="0"/>
                </a:lnTo>
                <a:lnTo>
                  <a:pt x="1127677" y="1127677"/>
                </a:lnTo>
                <a:lnTo>
                  <a:pt x="0" y="112767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465079" y="3054039"/>
            <a:ext cx="7782988" cy="3152687"/>
          </a:xfrm>
          <a:prstGeom prst="rect">
            <a:avLst/>
          </a:prstGeom>
        </p:spPr>
        <p:txBody>
          <a:bodyPr lIns="0" tIns="0" rIns="0" bIns="0" rtlCol="0" anchor="t">
            <a:spAutoFit/>
          </a:bodyPr>
          <a:lstStyle/>
          <a:p>
            <a:pPr algn="l">
              <a:lnSpc>
                <a:spcPts val="12480"/>
              </a:lnSpc>
            </a:pPr>
            <a:r>
              <a:rPr lang="en-US" sz="10400">
                <a:solidFill>
                  <a:srgbClr val="000000"/>
                </a:solidFill>
                <a:latin typeface="Anton"/>
                <a:ea typeface="Anton"/>
                <a:cs typeface="Anton"/>
                <a:sym typeface="Anton"/>
              </a:rPr>
              <a:t>HTML</a:t>
            </a:r>
          </a:p>
          <a:p>
            <a:pPr algn="l">
              <a:lnSpc>
                <a:spcPts val="12480"/>
              </a:lnSpc>
            </a:pPr>
            <a:r>
              <a:rPr lang="en-US" sz="10400">
                <a:solidFill>
                  <a:srgbClr val="000000"/>
                </a:solidFill>
                <a:latin typeface="Anton"/>
                <a:ea typeface="Anton"/>
                <a:cs typeface="Anton"/>
                <a:sym typeface="Anton"/>
              </a:rPr>
              <a:t>FUNDAMENTALS</a:t>
            </a:r>
          </a:p>
        </p:txBody>
      </p:sp>
      <p:sp>
        <p:nvSpPr>
          <p:cNvPr id="5" name="TextBox 5"/>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a:solidFill>
                  <a:srgbClr val="000000"/>
                </a:solidFill>
                <a:latin typeface="Inter Medium"/>
                <a:ea typeface="Inter Medium"/>
                <a:cs typeface="Inter Medium"/>
                <a:sym typeface="Inter Medium"/>
              </a:rPr>
              <a:t>Page 01</a:t>
            </a:r>
          </a:p>
        </p:txBody>
      </p:sp>
      <p:sp>
        <p:nvSpPr>
          <p:cNvPr id="6" name="Freeform 6"/>
          <p:cNvSpPr/>
          <p:nvPr/>
        </p:nvSpPr>
        <p:spPr>
          <a:xfrm>
            <a:off x="1638494" y="2973640"/>
            <a:ext cx="6340010" cy="5674309"/>
          </a:xfrm>
          <a:custGeom>
            <a:avLst/>
            <a:gdLst/>
            <a:ahLst/>
            <a:cxnLst/>
            <a:rect l="l" t="t" r="r" b="b"/>
            <a:pathLst>
              <a:path w="6340010" h="5674309">
                <a:moveTo>
                  <a:pt x="0" y="0"/>
                </a:moveTo>
                <a:lnTo>
                  <a:pt x="6340010" y="0"/>
                </a:lnTo>
                <a:lnTo>
                  <a:pt x="6340010" y="5674308"/>
                </a:lnTo>
                <a:lnTo>
                  <a:pt x="0" y="5674308"/>
                </a:lnTo>
                <a:lnTo>
                  <a:pt x="0" y="0"/>
                </a:lnTo>
                <a:close/>
              </a:path>
            </a:pathLst>
          </a:custGeom>
          <a:blipFill>
            <a:blip r:embed="rId4"/>
            <a:stretch>
              <a:fillRect/>
            </a:stretch>
          </a:blipFill>
        </p:spPr>
      </p:sp>
      <p:sp>
        <p:nvSpPr>
          <p:cNvPr id="7" name="TextBox 7"/>
          <p:cNvSpPr txBox="1"/>
          <p:nvPr/>
        </p:nvSpPr>
        <p:spPr>
          <a:xfrm>
            <a:off x="2950906" y="4280051"/>
            <a:ext cx="3715187" cy="1234374"/>
          </a:xfrm>
          <a:prstGeom prst="rect">
            <a:avLst/>
          </a:prstGeom>
        </p:spPr>
        <p:txBody>
          <a:bodyPr lIns="0" tIns="0" rIns="0" bIns="0" rtlCol="0" anchor="t">
            <a:spAutoFit/>
          </a:bodyPr>
          <a:lstStyle/>
          <a:p>
            <a:pPr algn="l">
              <a:lnSpc>
                <a:spcPts val="9669"/>
              </a:lnSpc>
            </a:pPr>
            <a:r>
              <a:rPr lang="en-US" sz="8058">
                <a:solidFill>
                  <a:srgbClr val="0F0E0C"/>
                </a:solidFill>
                <a:latin typeface="DM Sans"/>
                <a:ea typeface="DM Sans"/>
                <a:cs typeface="DM Sans"/>
                <a:sym typeface="DM Sans"/>
              </a:rPr>
              <a:t>&lt;HTML&gt;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46835"/>
            <a:ext cx="6335946"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WHAT IS HTML?</a:t>
            </a:r>
          </a:p>
        </p:txBody>
      </p:sp>
      <p:sp>
        <p:nvSpPr>
          <p:cNvPr id="3" name="TextBox 3"/>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a:solidFill>
                  <a:srgbClr val="000000"/>
                </a:solidFill>
                <a:latin typeface="Inter Medium"/>
                <a:ea typeface="Inter Medium"/>
                <a:cs typeface="Inter Medium"/>
                <a:sym typeface="Inter Medium"/>
              </a:rPr>
              <a:t>Page 02</a:t>
            </a:r>
          </a:p>
        </p:txBody>
      </p:sp>
      <p:sp>
        <p:nvSpPr>
          <p:cNvPr id="4" name="TextBox 4"/>
          <p:cNvSpPr txBox="1"/>
          <p:nvPr/>
        </p:nvSpPr>
        <p:spPr>
          <a:xfrm>
            <a:off x="8278814" y="1578576"/>
            <a:ext cx="7156078" cy="679496"/>
          </a:xfrm>
          <a:prstGeom prst="rect">
            <a:avLst/>
          </a:prstGeom>
        </p:spPr>
        <p:txBody>
          <a:bodyPr lIns="0" tIns="0" rIns="0" bIns="0" rtlCol="0" anchor="t">
            <a:spAutoFit/>
          </a:bodyPr>
          <a:lstStyle/>
          <a:p>
            <a:pPr algn="l">
              <a:lnSpc>
                <a:spcPts val="5599"/>
              </a:lnSpc>
            </a:pPr>
            <a:r>
              <a:rPr lang="en-US" sz="3999">
                <a:solidFill>
                  <a:srgbClr val="000000"/>
                </a:solidFill>
                <a:latin typeface="Inter"/>
                <a:ea typeface="Inter"/>
                <a:cs typeface="Inter"/>
                <a:sym typeface="Inter"/>
              </a:rPr>
              <a:t>HyperText Markup Language</a:t>
            </a:r>
          </a:p>
        </p:txBody>
      </p:sp>
      <p:sp>
        <p:nvSpPr>
          <p:cNvPr id="5" name="TextBox 5"/>
          <p:cNvSpPr txBox="1"/>
          <p:nvPr/>
        </p:nvSpPr>
        <p:spPr>
          <a:xfrm>
            <a:off x="1028700" y="4464004"/>
            <a:ext cx="9433851" cy="679496"/>
          </a:xfrm>
          <a:prstGeom prst="rect">
            <a:avLst/>
          </a:prstGeom>
        </p:spPr>
        <p:txBody>
          <a:bodyPr lIns="0" tIns="0" rIns="0" bIns="0" rtlCol="0" anchor="t">
            <a:spAutoFit/>
          </a:bodyPr>
          <a:lstStyle/>
          <a:p>
            <a:pPr algn="l">
              <a:lnSpc>
                <a:spcPts val="5599"/>
              </a:lnSpc>
            </a:pPr>
            <a:r>
              <a:rPr lang="en-US" sz="3999">
                <a:solidFill>
                  <a:srgbClr val="000000"/>
                </a:solidFill>
                <a:latin typeface="Inter"/>
                <a:ea typeface="Inter"/>
                <a:cs typeface="Inter"/>
                <a:sym typeface="Inter"/>
              </a:rPr>
              <a:t>Now, what is </a:t>
            </a:r>
            <a:r>
              <a:rPr lang="en-US" sz="3999" b="1">
                <a:solidFill>
                  <a:srgbClr val="000000"/>
                </a:solidFill>
                <a:latin typeface="Inter Bold"/>
                <a:ea typeface="Inter Bold"/>
                <a:cs typeface="Inter Bold"/>
                <a:sym typeface="Inter Bold"/>
              </a:rPr>
              <a:t>HyperText</a:t>
            </a:r>
            <a:r>
              <a:rPr lang="en-US" sz="3999">
                <a:solidFill>
                  <a:srgbClr val="000000"/>
                </a:solidFill>
                <a:latin typeface="Inter"/>
                <a:ea typeface="Inter"/>
                <a:cs typeface="Inter"/>
                <a:sym typeface="Inter"/>
              </a:rPr>
              <a:t> and </a:t>
            </a:r>
            <a:r>
              <a:rPr lang="en-US" sz="3999" b="1">
                <a:solidFill>
                  <a:srgbClr val="000000"/>
                </a:solidFill>
                <a:latin typeface="Inter Bold"/>
                <a:ea typeface="Inter Bold"/>
                <a:cs typeface="Inter Bold"/>
                <a:sym typeface="Inter Bold"/>
              </a:rPr>
              <a:t>Markup?</a:t>
            </a:r>
          </a:p>
        </p:txBody>
      </p:sp>
      <p:sp>
        <p:nvSpPr>
          <p:cNvPr id="6" name="TextBox 6"/>
          <p:cNvSpPr txBox="1"/>
          <p:nvPr/>
        </p:nvSpPr>
        <p:spPr>
          <a:xfrm>
            <a:off x="1028700" y="5999145"/>
            <a:ext cx="16077042" cy="3714114"/>
          </a:xfrm>
          <a:prstGeom prst="rect">
            <a:avLst/>
          </a:prstGeom>
        </p:spPr>
        <p:txBody>
          <a:bodyPr lIns="0" tIns="0" rIns="0" bIns="0" rtlCol="0" anchor="t">
            <a:spAutoFit/>
          </a:bodyPr>
          <a:lstStyle/>
          <a:p>
            <a:pPr algn="l">
              <a:lnSpc>
                <a:spcPts val="4218"/>
              </a:lnSpc>
            </a:pPr>
            <a:r>
              <a:rPr lang="en-US" sz="3012">
                <a:solidFill>
                  <a:srgbClr val="000000"/>
                </a:solidFill>
                <a:latin typeface="Inter"/>
                <a:ea typeface="Inter"/>
                <a:cs typeface="Inter"/>
                <a:sym typeface="Inter"/>
              </a:rPr>
              <a:t>Hypertext - Hypertext refers to text that contains hyperlinks (a digital reference in a document or webpage that lets users jump to another location, file, or website with a click or tap), allowing users to click and instantly jump to other connected web pages or resources. </a:t>
            </a:r>
          </a:p>
          <a:p>
            <a:pPr algn="l">
              <a:lnSpc>
                <a:spcPts val="4218"/>
              </a:lnSpc>
            </a:pPr>
            <a:endParaRPr lang="en-US" sz="3012">
              <a:solidFill>
                <a:srgbClr val="000000"/>
              </a:solidFill>
              <a:latin typeface="Inter"/>
              <a:ea typeface="Inter"/>
              <a:cs typeface="Inter"/>
              <a:sym typeface="Inter"/>
            </a:endParaRPr>
          </a:p>
          <a:p>
            <a:pPr algn="l">
              <a:lnSpc>
                <a:spcPts val="4218"/>
              </a:lnSpc>
            </a:pPr>
            <a:r>
              <a:rPr lang="en-US" sz="3012">
                <a:solidFill>
                  <a:srgbClr val="000000"/>
                </a:solidFill>
                <a:latin typeface="Inter"/>
                <a:ea typeface="Inter"/>
                <a:cs typeface="Inter"/>
                <a:sym typeface="Inter"/>
              </a:rPr>
              <a:t>Markup - Languages used to control the structure, presentation or description of data.</a:t>
            </a:r>
          </a:p>
          <a:p>
            <a:pPr algn="l">
              <a:lnSpc>
                <a:spcPts val="4218"/>
              </a:lnSpc>
            </a:pPr>
            <a:endParaRPr lang="en-US" sz="3012">
              <a:solidFill>
                <a:srgbClr val="000000"/>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10611" y="2716852"/>
            <a:ext cx="15866778" cy="7310220"/>
          </a:xfrm>
          <a:custGeom>
            <a:avLst/>
            <a:gdLst/>
            <a:ahLst/>
            <a:cxnLst/>
            <a:rect l="l" t="t" r="r" b="b"/>
            <a:pathLst>
              <a:path w="15866778" h="7310220">
                <a:moveTo>
                  <a:pt x="0" y="0"/>
                </a:moveTo>
                <a:lnTo>
                  <a:pt x="15866778" y="0"/>
                </a:lnTo>
                <a:lnTo>
                  <a:pt x="15866778" y="7310219"/>
                </a:lnTo>
                <a:lnTo>
                  <a:pt x="0" y="7310219"/>
                </a:lnTo>
                <a:lnTo>
                  <a:pt x="0" y="0"/>
                </a:lnTo>
                <a:close/>
              </a:path>
            </a:pathLst>
          </a:custGeom>
          <a:blipFill>
            <a:blip r:embed="rId2"/>
            <a:stretch>
              <a:fillRect t="-5951" b="-4551"/>
            </a:stretch>
          </a:blipFill>
        </p:spPr>
      </p:sp>
      <p:sp>
        <p:nvSpPr>
          <p:cNvPr id="3" name="TextBox 3"/>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03</a:t>
            </a:r>
          </a:p>
        </p:txBody>
      </p:sp>
      <p:sp>
        <p:nvSpPr>
          <p:cNvPr id="4" name="TextBox 4"/>
          <p:cNvSpPr txBox="1"/>
          <p:nvPr/>
        </p:nvSpPr>
        <p:spPr>
          <a:xfrm>
            <a:off x="1028700" y="939534"/>
            <a:ext cx="16230600" cy="679496"/>
          </a:xfrm>
          <a:prstGeom prst="rect">
            <a:avLst/>
          </a:prstGeom>
        </p:spPr>
        <p:txBody>
          <a:bodyPr lIns="0" tIns="0" rIns="0" bIns="0" rtlCol="0" anchor="t">
            <a:spAutoFit/>
          </a:bodyPr>
          <a:lstStyle/>
          <a:p>
            <a:pPr algn="l">
              <a:lnSpc>
                <a:spcPts val="5599"/>
              </a:lnSpc>
            </a:pPr>
            <a:r>
              <a:rPr lang="en-US" sz="3999">
                <a:solidFill>
                  <a:srgbClr val="000000"/>
                </a:solidFill>
                <a:latin typeface="Inter"/>
                <a:ea typeface="Inter"/>
                <a:cs typeface="Inter"/>
                <a:sym typeface="Inter"/>
              </a:rPr>
              <a:t>Ex:</a:t>
            </a:r>
          </a:p>
        </p:txBody>
      </p:sp>
      <p:sp>
        <p:nvSpPr>
          <p:cNvPr id="5" name="Freeform 5"/>
          <p:cNvSpPr/>
          <p:nvPr/>
        </p:nvSpPr>
        <p:spPr>
          <a:xfrm>
            <a:off x="1932740" y="422163"/>
            <a:ext cx="6566248" cy="1790436"/>
          </a:xfrm>
          <a:custGeom>
            <a:avLst/>
            <a:gdLst/>
            <a:ahLst/>
            <a:cxnLst/>
            <a:rect l="l" t="t" r="r" b="b"/>
            <a:pathLst>
              <a:path w="6566248" h="1790436">
                <a:moveTo>
                  <a:pt x="0" y="0"/>
                </a:moveTo>
                <a:lnTo>
                  <a:pt x="6566248" y="0"/>
                </a:lnTo>
                <a:lnTo>
                  <a:pt x="6566248" y="1790437"/>
                </a:lnTo>
                <a:lnTo>
                  <a:pt x="0" y="1790437"/>
                </a:lnTo>
                <a:lnTo>
                  <a:pt x="0" y="0"/>
                </a:lnTo>
                <a:close/>
              </a:path>
            </a:pathLst>
          </a:custGeom>
          <a:blipFill>
            <a:blip r:embed="rId3"/>
            <a:stretch>
              <a:fillRect b="-16265"/>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85126" y="5934511"/>
            <a:ext cx="6515968" cy="3661146"/>
          </a:xfrm>
          <a:custGeom>
            <a:avLst/>
            <a:gdLst/>
            <a:ahLst/>
            <a:cxnLst/>
            <a:rect l="l" t="t" r="r" b="b"/>
            <a:pathLst>
              <a:path w="6515968" h="3661146">
                <a:moveTo>
                  <a:pt x="0" y="0"/>
                </a:moveTo>
                <a:lnTo>
                  <a:pt x="6515968" y="0"/>
                </a:lnTo>
                <a:lnTo>
                  <a:pt x="6515968" y="3661146"/>
                </a:lnTo>
                <a:lnTo>
                  <a:pt x="0" y="3661146"/>
                </a:lnTo>
                <a:lnTo>
                  <a:pt x="0" y="0"/>
                </a:lnTo>
                <a:close/>
              </a:path>
            </a:pathLst>
          </a:custGeom>
          <a:blipFill>
            <a:blip r:embed="rId2"/>
            <a:stretch>
              <a:fillRect/>
            </a:stretch>
          </a:blipFill>
        </p:spPr>
      </p:sp>
      <p:sp>
        <p:nvSpPr>
          <p:cNvPr id="3" name="TextBox 3"/>
          <p:cNvSpPr txBox="1"/>
          <p:nvPr/>
        </p:nvSpPr>
        <p:spPr>
          <a:xfrm>
            <a:off x="1028700" y="1346835"/>
            <a:ext cx="6335946"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WHAT IS HTML?</a:t>
            </a:r>
          </a:p>
        </p:txBody>
      </p:sp>
      <p:sp>
        <p:nvSpPr>
          <p:cNvPr id="4" name="TextBox 4"/>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04</a:t>
            </a:r>
          </a:p>
        </p:txBody>
      </p:sp>
      <p:sp>
        <p:nvSpPr>
          <p:cNvPr id="5" name="TextBox 5"/>
          <p:cNvSpPr txBox="1"/>
          <p:nvPr/>
        </p:nvSpPr>
        <p:spPr>
          <a:xfrm>
            <a:off x="1028700" y="3262117"/>
            <a:ext cx="16230600" cy="2794178"/>
          </a:xfrm>
          <a:prstGeom prst="rect">
            <a:avLst/>
          </a:prstGeom>
        </p:spPr>
        <p:txBody>
          <a:bodyPr lIns="0" tIns="0" rIns="0" bIns="0" rtlCol="0" anchor="t">
            <a:spAutoFit/>
          </a:bodyPr>
          <a:lstStyle/>
          <a:p>
            <a:pPr algn="l">
              <a:lnSpc>
                <a:spcPts val="5599"/>
              </a:lnSpc>
            </a:pPr>
            <a:r>
              <a:rPr lang="en-US" sz="3999">
                <a:solidFill>
                  <a:srgbClr val="000000"/>
                </a:solidFill>
                <a:latin typeface="Inter"/>
                <a:ea typeface="Inter"/>
                <a:cs typeface="Inter"/>
                <a:sym typeface="Inter"/>
              </a:rPr>
              <a:t>HTML is the markup language used to structure webpage content.</a:t>
            </a:r>
          </a:p>
          <a:p>
            <a:pPr algn="l">
              <a:lnSpc>
                <a:spcPts val="5599"/>
              </a:lnSpc>
            </a:pPr>
            <a:r>
              <a:rPr lang="en-US" sz="3999">
                <a:solidFill>
                  <a:srgbClr val="000000"/>
                </a:solidFill>
                <a:latin typeface="Inter"/>
                <a:ea typeface="Inter"/>
                <a:cs typeface="Inter"/>
                <a:sym typeface="Inter"/>
              </a:rPr>
              <a:t>All the webpages, websites and everything that you see on the Internet has employed HTML as its skeleton.</a:t>
            </a:r>
          </a:p>
          <a:p>
            <a:pPr algn="l">
              <a:lnSpc>
                <a:spcPts val="5599"/>
              </a:lnSpc>
            </a:pPr>
            <a:endParaRPr lang="en-US" sz="3999">
              <a:solidFill>
                <a:srgbClr val="000000"/>
              </a:solidFill>
              <a:latin typeface="Inter"/>
              <a:ea typeface="Inter"/>
              <a:cs typeface="Inter"/>
              <a:sym typeface="Inter"/>
            </a:endParaRPr>
          </a:p>
        </p:txBody>
      </p:sp>
      <p:sp>
        <p:nvSpPr>
          <p:cNvPr id="6" name="Freeform 6"/>
          <p:cNvSpPr/>
          <p:nvPr/>
        </p:nvSpPr>
        <p:spPr>
          <a:xfrm>
            <a:off x="9798445" y="5812728"/>
            <a:ext cx="6349126" cy="3904712"/>
          </a:xfrm>
          <a:custGeom>
            <a:avLst/>
            <a:gdLst/>
            <a:ahLst/>
            <a:cxnLst/>
            <a:rect l="l" t="t" r="r" b="b"/>
            <a:pathLst>
              <a:path w="6349126" h="3904712">
                <a:moveTo>
                  <a:pt x="0" y="0"/>
                </a:moveTo>
                <a:lnTo>
                  <a:pt x="6349126" y="0"/>
                </a:lnTo>
                <a:lnTo>
                  <a:pt x="6349126" y="3904712"/>
                </a:lnTo>
                <a:lnTo>
                  <a:pt x="0" y="3904712"/>
                </a:lnTo>
                <a:lnTo>
                  <a:pt x="0" y="0"/>
                </a:lnTo>
                <a:close/>
              </a:path>
            </a:pathLst>
          </a:custGeom>
          <a:blipFill>
            <a:blip r:embed="rId3"/>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07709" y="2993562"/>
            <a:ext cx="12472581" cy="6725411"/>
          </a:xfrm>
          <a:custGeom>
            <a:avLst/>
            <a:gdLst/>
            <a:ahLst/>
            <a:cxnLst/>
            <a:rect l="l" t="t" r="r" b="b"/>
            <a:pathLst>
              <a:path w="12472581" h="6725411">
                <a:moveTo>
                  <a:pt x="0" y="0"/>
                </a:moveTo>
                <a:lnTo>
                  <a:pt x="12472582" y="0"/>
                </a:lnTo>
                <a:lnTo>
                  <a:pt x="12472582" y="6725411"/>
                </a:lnTo>
                <a:lnTo>
                  <a:pt x="0" y="6725411"/>
                </a:lnTo>
                <a:lnTo>
                  <a:pt x="0" y="0"/>
                </a:lnTo>
                <a:close/>
              </a:path>
            </a:pathLst>
          </a:custGeom>
          <a:blipFill>
            <a:blip r:embed="rId2"/>
            <a:stretch>
              <a:fillRect/>
            </a:stretch>
          </a:blipFill>
        </p:spPr>
      </p:sp>
      <p:sp>
        <p:nvSpPr>
          <p:cNvPr id="3" name="TextBox 3"/>
          <p:cNvSpPr txBox="1"/>
          <p:nvPr/>
        </p:nvSpPr>
        <p:spPr>
          <a:xfrm>
            <a:off x="1028700" y="1346835"/>
            <a:ext cx="6591876"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HTML STRUCTURE</a:t>
            </a:r>
          </a:p>
        </p:txBody>
      </p:sp>
      <p:sp>
        <p:nvSpPr>
          <p:cNvPr id="4" name="TextBox 4"/>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39874" y="2917687"/>
            <a:ext cx="15008252" cy="6340613"/>
          </a:xfrm>
          <a:custGeom>
            <a:avLst/>
            <a:gdLst/>
            <a:ahLst/>
            <a:cxnLst/>
            <a:rect l="l" t="t" r="r" b="b"/>
            <a:pathLst>
              <a:path w="15008252" h="6340613">
                <a:moveTo>
                  <a:pt x="0" y="0"/>
                </a:moveTo>
                <a:lnTo>
                  <a:pt x="15008252" y="0"/>
                </a:lnTo>
                <a:lnTo>
                  <a:pt x="15008252" y="6340613"/>
                </a:lnTo>
                <a:lnTo>
                  <a:pt x="0" y="6340613"/>
                </a:lnTo>
                <a:lnTo>
                  <a:pt x="0" y="0"/>
                </a:lnTo>
                <a:close/>
              </a:path>
            </a:pathLst>
          </a:custGeom>
          <a:blipFill>
            <a:blip r:embed="rId2"/>
            <a:stretch>
              <a:fillRect/>
            </a:stretch>
          </a:blipFill>
        </p:spPr>
      </p:sp>
      <p:sp>
        <p:nvSpPr>
          <p:cNvPr id="3" name="TextBox 3"/>
          <p:cNvSpPr txBox="1"/>
          <p:nvPr/>
        </p:nvSpPr>
        <p:spPr>
          <a:xfrm>
            <a:off x="1028700" y="1346835"/>
            <a:ext cx="6591876"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HTML STRUCTURE</a:t>
            </a:r>
          </a:p>
        </p:txBody>
      </p:sp>
      <p:sp>
        <p:nvSpPr>
          <p:cNvPr id="4" name="TextBox 4"/>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46835"/>
            <a:ext cx="6540690"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HTML STRUCTURE</a:t>
            </a:r>
          </a:p>
        </p:txBody>
      </p:sp>
      <p:sp>
        <p:nvSpPr>
          <p:cNvPr id="3" name="TextBox 3"/>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07</a:t>
            </a:r>
          </a:p>
        </p:txBody>
      </p:sp>
      <p:sp>
        <p:nvSpPr>
          <p:cNvPr id="4" name="TextBox 4"/>
          <p:cNvSpPr txBox="1"/>
          <p:nvPr/>
        </p:nvSpPr>
        <p:spPr>
          <a:xfrm>
            <a:off x="1028700" y="2946309"/>
            <a:ext cx="5262200" cy="679496"/>
          </a:xfrm>
          <a:prstGeom prst="rect">
            <a:avLst/>
          </a:prstGeom>
        </p:spPr>
        <p:txBody>
          <a:bodyPr lIns="0" tIns="0" rIns="0" bIns="0" rtlCol="0" anchor="t">
            <a:spAutoFit/>
          </a:bodyPr>
          <a:lstStyle/>
          <a:p>
            <a:pPr algn="l">
              <a:lnSpc>
                <a:spcPts val="5599"/>
              </a:lnSpc>
            </a:pPr>
            <a:r>
              <a:rPr lang="en-US" sz="3999">
                <a:solidFill>
                  <a:srgbClr val="000000"/>
                </a:solidFill>
                <a:latin typeface="Inter"/>
                <a:ea typeface="Inter"/>
                <a:cs typeface="Inter"/>
                <a:sym typeface="Inter"/>
              </a:rPr>
              <a:t>What do these mean?</a:t>
            </a:r>
          </a:p>
        </p:txBody>
      </p:sp>
      <p:sp>
        <p:nvSpPr>
          <p:cNvPr id="5" name="TextBox 5"/>
          <p:cNvSpPr txBox="1"/>
          <p:nvPr/>
        </p:nvSpPr>
        <p:spPr>
          <a:xfrm>
            <a:off x="1028700" y="3787571"/>
            <a:ext cx="16230600" cy="5980846"/>
          </a:xfrm>
          <a:prstGeom prst="rect">
            <a:avLst/>
          </a:prstGeom>
        </p:spPr>
        <p:txBody>
          <a:bodyPr lIns="0" tIns="0" rIns="0" bIns="0" rtlCol="0" anchor="t">
            <a:spAutoFit/>
          </a:bodyPr>
          <a:lstStyle/>
          <a:p>
            <a:pPr marL="734051" lvl="1" indent="-367026" algn="just">
              <a:lnSpc>
                <a:spcPts val="4759"/>
              </a:lnSpc>
              <a:buAutoNum type="arabicPeriod"/>
            </a:pPr>
            <a:r>
              <a:rPr lang="en-US" sz="3399">
                <a:solidFill>
                  <a:srgbClr val="000000"/>
                </a:solidFill>
                <a:latin typeface="Inter"/>
                <a:ea typeface="Inter"/>
                <a:cs typeface="Inter"/>
                <a:sym typeface="Inter"/>
              </a:rPr>
              <a:t>&lt;!doctype html&gt; - tells the browser to render the page in "Standards Mode."</a:t>
            </a:r>
          </a:p>
          <a:p>
            <a:pPr marL="734051" lvl="1" indent="-367026" algn="just">
              <a:lnSpc>
                <a:spcPts val="4759"/>
              </a:lnSpc>
              <a:buAutoNum type="arabicPeriod"/>
            </a:pPr>
            <a:r>
              <a:rPr lang="en-US" sz="3399">
                <a:solidFill>
                  <a:srgbClr val="000000"/>
                </a:solidFill>
                <a:latin typeface="Inter"/>
                <a:ea typeface="Inter"/>
                <a:cs typeface="Inter"/>
                <a:sym typeface="Inter"/>
              </a:rPr>
              <a:t>&lt;html lang=”en”&gt; - lang="en" attribute inside the &lt;html&gt; tag declares English as the default language for all the text on that web page.</a:t>
            </a:r>
          </a:p>
          <a:p>
            <a:pPr marL="734051" lvl="1" indent="-367026" algn="just">
              <a:lnSpc>
                <a:spcPts val="4759"/>
              </a:lnSpc>
              <a:buAutoNum type="arabicPeriod"/>
            </a:pPr>
            <a:r>
              <a:rPr lang="en-US" sz="3399">
                <a:solidFill>
                  <a:srgbClr val="000000"/>
                </a:solidFill>
                <a:latin typeface="Inter"/>
                <a:ea typeface="Inter"/>
                <a:cs typeface="Inter"/>
                <a:sym typeface="Inter"/>
              </a:rPr>
              <a:t>&lt;meta charset="UTF-8"&gt; - UTF-8 (Unicode Transformation Format – 8-bit) is a variable-width character encoding standard that translates all Unicode code points into binary data using one to four 8-bit bytes.</a:t>
            </a:r>
          </a:p>
          <a:p>
            <a:pPr marL="734051" lvl="1" indent="-367026" algn="just">
              <a:lnSpc>
                <a:spcPts val="4759"/>
              </a:lnSpc>
              <a:buAutoNum type="arabicPeriod"/>
            </a:pPr>
            <a:r>
              <a:rPr lang="en-US" sz="3399">
                <a:solidFill>
                  <a:srgbClr val="000000"/>
                </a:solidFill>
                <a:latin typeface="Inter"/>
                <a:ea typeface="Inter"/>
                <a:cs typeface="Inter"/>
                <a:sym typeface="Inter"/>
              </a:rPr>
              <a:t>&lt;meta name="viewport" content="width=device-width, initial-scale=1.0"&gt; - tells mobile browsers to scale and size a webpage to match the physical screen width of the device at a normal 1:1 zoom level.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19551" y="2817486"/>
            <a:ext cx="14648898" cy="7024067"/>
          </a:xfrm>
          <a:custGeom>
            <a:avLst/>
            <a:gdLst/>
            <a:ahLst/>
            <a:cxnLst/>
            <a:rect l="l" t="t" r="r" b="b"/>
            <a:pathLst>
              <a:path w="14648898" h="7024067">
                <a:moveTo>
                  <a:pt x="0" y="0"/>
                </a:moveTo>
                <a:lnTo>
                  <a:pt x="14648898" y="0"/>
                </a:lnTo>
                <a:lnTo>
                  <a:pt x="14648898" y="7024068"/>
                </a:lnTo>
                <a:lnTo>
                  <a:pt x="0" y="7024068"/>
                </a:lnTo>
                <a:lnTo>
                  <a:pt x="0" y="0"/>
                </a:lnTo>
                <a:close/>
              </a:path>
            </a:pathLst>
          </a:custGeom>
          <a:blipFill>
            <a:blip r:embed="rId2"/>
            <a:stretch>
              <a:fillRect t="-13070"/>
            </a:stretch>
          </a:blipFill>
        </p:spPr>
      </p:sp>
      <p:sp>
        <p:nvSpPr>
          <p:cNvPr id="3" name="TextBox 3"/>
          <p:cNvSpPr txBox="1"/>
          <p:nvPr/>
        </p:nvSpPr>
        <p:spPr>
          <a:xfrm>
            <a:off x="1028700" y="1346835"/>
            <a:ext cx="9663030"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HTML VERSION EVOLUTION</a:t>
            </a:r>
          </a:p>
        </p:txBody>
      </p:sp>
      <p:sp>
        <p:nvSpPr>
          <p:cNvPr id="4" name="TextBox 4"/>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46835"/>
            <a:ext cx="6540690"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HTML TAGS</a:t>
            </a:r>
          </a:p>
        </p:txBody>
      </p:sp>
      <p:sp>
        <p:nvSpPr>
          <p:cNvPr id="3" name="TextBox 3"/>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09</a:t>
            </a:r>
          </a:p>
        </p:txBody>
      </p:sp>
      <p:sp>
        <p:nvSpPr>
          <p:cNvPr id="4" name="TextBox 4"/>
          <p:cNvSpPr txBox="1"/>
          <p:nvPr/>
        </p:nvSpPr>
        <p:spPr>
          <a:xfrm>
            <a:off x="1028700" y="3787571"/>
            <a:ext cx="16230600" cy="4780740"/>
          </a:xfrm>
          <a:prstGeom prst="rect">
            <a:avLst/>
          </a:prstGeom>
        </p:spPr>
        <p:txBody>
          <a:bodyPr lIns="0" tIns="0" rIns="0" bIns="0" rtlCol="0" anchor="t">
            <a:spAutoFit/>
          </a:bodyPr>
          <a:lstStyle/>
          <a:p>
            <a:pPr marL="734051" lvl="1" indent="-367026" algn="l">
              <a:lnSpc>
                <a:spcPts val="4759"/>
              </a:lnSpc>
              <a:buAutoNum type="arabicPeriod"/>
            </a:pPr>
            <a:r>
              <a:rPr lang="en-US" sz="3399">
                <a:solidFill>
                  <a:srgbClr val="000000"/>
                </a:solidFill>
                <a:latin typeface="Inter"/>
                <a:ea typeface="Inter"/>
                <a:cs typeface="Inter"/>
                <a:sym typeface="Inter"/>
              </a:rPr>
              <a:t> heading tag &lt;h1&gt;, &lt;h2&gt;, &lt;h3&gt;, &lt;h4&gt;, &lt;h5&gt;, &lt;h6&gt;</a:t>
            </a:r>
          </a:p>
          <a:p>
            <a:pPr marL="734051" lvl="1" indent="-367026" algn="l">
              <a:lnSpc>
                <a:spcPts val="4759"/>
              </a:lnSpc>
              <a:buAutoNum type="arabicPeriod"/>
            </a:pPr>
            <a:r>
              <a:rPr lang="en-US" sz="3399">
                <a:solidFill>
                  <a:srgbClr val="000000"/>
                </a:solidFill>
                <a:latin typeface="Inter"/>
                <a:ea typeface="Inter"/>
                <a:cs typeface="Inter"/>
                <a:sym typeface="Inter"/>
              </a:rPr>
              <a:t> Paragraph tag &lt;p&gt;</a:t>
            </a:r>
          </a:p>
          <a:p>
            <a:pPr marL="734051" lvl="1" indent="-367026" algn="l">
              <a:lnSpc>
                <a:spcPts val="4759"/>
              </a:lnSpc>
              <a:buAutoNum type="arabicPeriod"/>
            </a:pPr>
            <a:r>
              <a:rPr lang="en-US" sz="3399">
                <a:solidFill>
                  <a:srgbClr val="000000"/>
                </a:solidFill>
                <a:latin typeface="Inter"/>
                <a:ea typeface="Inter"/>
                <a:cs typeface="Inter"/>
                <a:sym typeface="Inter"/>
              </a:rPr>
              <a:t> Anchor tag &lt;a&gt;</a:t>
            </a:r>
          </a:p>
          <a:p>
            <a:pPr marL="734051" lvl="1" indent="-367026" algn="l">
              <a:lnSpc>
                <a:spcPts val="4759"/>
              </a:lnSpc>
              <a:buAutoNum type="arabicPeriod"/>
            </a:pPr>
            <a:r>
              <a:rPr lang="en-US" sz="3399">
                <a:solidFill>
                  <a:srgbClr val="000000"/>
                </a:solidFill>
                <a:latin typeface="Inter"/>
                <a:ea typeface="Inter"/>
                <a:cs typeface="Inter"/>
                <a:sym typeface="Inter"/>
              </a:rPr>
              <a:t> Image tag &lt;img&gt;</a:t>
            </a:r>
          </a:p>
          <a:p>
            <a:pPr marL="734051" lvl="1" indent="-367026" algn="l">
              <a:lnSpc>
                <a:spcPts val="4759"/>
              </a:lnSpc>
              <a:buAutoNum type="arabicPeriod"/>
            </a:pPr>
            <a:r>
              <a:rPr lang="en-US" sz="3399">
                <a:solidFill>
                  <a:srgbClr val="000000"/>
                </a:solidFill>
                <a:latin typeface="Inter"/>
                <a:ea typeface="Inter"/>
                <a:cs typeface="Inter"/>
                <a:sym typeface="Inter"/>
              </a:rPr>
              <a:t> List tags &lt;ol&gt;, &lt;ul&gt;, &lt;li&gt;</a:t>
            </a:r>
          </a:p>
          <a:p>
            <a:pPr marL="734051" lvl="1" indent="-367026" algn="l">
              <a:lnSpc>
                <a:spcPts val="4759"/>
              </a:lnSpc>
              <a:buAutoNum type="arabicPeriod"/>
            </a:pPr>
            <a:r>
              <a:rPr lang="en-US" sz="3399">
                <a:solidFill>
                  <a:srgbClr val="000000"/>
                </a:solidFill>
                <a:latin typeface="Inter"/>
                <a:ea typeface="Inter"/>
                <a:cs typeface="Inter"/>
                <a:sym typeface="Inter"/>
              </a:rPr>
              <a:t> Table tag &lt;table&gt;, &lt;tr&gt;, &lt;th&gt;, &lt;td&gt;</a:t>
            </a:r>
          </a:p>
          <a:p>
            <a:pPr marL="734051" lvl="1" indent="-367026" algn="l">
              <a:lnSpc>
                <a:spcPts val="4759"/>
              </a:lnSpc>
              <a:buAutoNum type="arabicPeriod"/>
            </a:pPr>
            <a:r>
              <a:rPr lang="en-US" sz="3399">
                <a:solidFill>
                  <a:srgbClr val="000000"/>
                </a:solidFill>
                <a:latin typeface="Inter"/>
                <a:ea typeface="Inter"/>
                <a:cs typeface="Inter"/>
                <a:sym typeface="Inter"/>
              </a:rPr>
              <a:t> Form tag &lt;form&gt;</a:t>
            </a:r>
          </a:p>
          <a:p>
            <a:pPr marL="734051" lvl="1" indent="-367026" algn="l">
              <a:lnSpc>
                <a:spcPts val="4759"/>
              </a:lnSpc>
              <a:buAutoNum type="arabicPeriod"/>
            </a:pPr>
            <a:r>
              <a:rPr lang="en-US" sz="3399">
                <a:solidFill>
                  <a:srgbClr val="000000"/>
                </a:solidFill>
                <a:latin typeface="Inter"/>
                <a:ea typeface="Inter"/>
                <a:cs typeface="Inter"/>
                <a:sym typeface="Inter"/>
              </a:rPr>
              <a:t>Container tags &lt;div&gt;, &lt;span&gt;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46835"/>
            <a:ext cx="6540690"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FORM TAG</a:t>
            </a:r>
          </a:p>
        </p:txBody>
      </p:sp>
      <p:sp>
        <p:nvSpPr>
          <p:cNvPr id="3" name="TextBox 3"/>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10</a:t>
            </a:r>
          </a:p>
        </p:txBody>
      </p:sp>
      <p:sp>
        <p:nvSpPr>
          <p:cNvPr id="4" name="TextBox 4"/>
          <p:cNvSpPr txBox="1"/>
          <p:nvPr/>
        </p:nvSpPr>
        <p:spPr>
          <a:xfrm>
            <a:off x="1028700" y="3778046"/>
            <a:ext cx="16230600" cy="2537550"/>
          </a:xfrm>
          <a:prstGeom prst="rect">
            <a:avLst/>
          </a:prstGeom>
        </p:spPr>
        <p:txBody>
          <a:bodyPr lIns="0" tIns="0" rIns="0" bIns="0" rtlCol="0" anchor="t">
            <a:spAutoFit/>
          </a:bodyPr>
          <a:lstStyle/>
          <a:p>
            <a:pPr algn="just">
              <a:lnSpc>
                <a:spcPts val="5039"/>
              </a:lnSpc>
            </a:pPr>
            <a:r>
              <a:rPr lang="en-US" sz="3599">
                <a:solidFill>
                  <a:srgbClr val="000000"/>
                </a:solidFill>
                <a:latin typeface="Inter"/>
                <a:ea typeface="Inter"/>
                <a:cs typeface="Inter"/>
                <a:sym typeface="Inter"/>
              </a:rPr>
              <a:t>Forms collect user input using controls such as text fields, email fields, radio buttons, checkboxes, select lists and buttons. Labels should be associated with controls, and HTML5 validation attributes such as required, min, max and pattern may be used.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46835"/>
            <a:ext cx="6540690"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FORM TAG</a:t>
            </a:r>
          </a:p>
        </p:txBody>
      </p:sp>
      <p:sp>
        <p:nvSpPr>
          <p:cNvPr id="3" name="TextBox 3"/>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11</a:t>
            </a:r>
          </a:p>
        </p:txBody>
      </p:sp>
      <p:sp>
        <p:nvSpPr>
          <p:cNvPr id="4" name="TextBox 4"/>
          <p:cNvSpPr txBox="1"/>
          <p:nvPr/>
        </p:nvSpPr>
        <p:spPr>
          <a:xfrm>
            <a:off x="1028700" y="2871139"/>
            <a:ext cx="16230600" cy="7415861"/>
          </a:xfrm>
          <a:prstGeom prst="rect">
            <a:avLst/>
          </a:prstGeom>
        </p:spPr>
        <p:txBody>
          <a:bodyPr lIns="0" tIns="0" rIns="0" bIns="0" rtlCol="0" anchor="t">
            <a:spAutoFit/>
          </a:bodyPr>
          <a:lstStyle/>
          <a:p>
            <a:pPr marL="604515" lvl="1" indent="-302257" algn="just">
              <a:lnSpc>
                <a:spcPts val="3919"/>
              </a:lnSpc>
              <a:buFont typeface="Arial"/>
              <a:buChar char="•"/>
            </a:pPr>
            <a:r>
              <a:rPr lang="en-US" sz="2799">
                <a:solidFill>
                  <a:srgbClr val="000000"/>
                </a:solidFill>
                <a:latin typeface="Inter"/>
                <a:ea typeface="Inter"/>
                <a:cs typeface="Inter"/>
                <a:sym typeface="Inter"/>
              </a:rPr>
              <a:t>action: Specifies the destination URL where the form data is sent when the user clicks submit.</a:t>
            </a:r>
          </a:p>
          <a:p>
            <a:pPr marL="604515" lvl="1" indent="-302257" algn="just">
              <a:lnSpc>
                <a:spcPts val="3919"/>
              </a:lnSpc>
              <a:buFont typeface="Arial"/>
              <a:buChar char="•"/>
            </a:pPr>
            <a:r>
              <a:rPr lang="en-US" sz="2799">
                <a:solidFill>
                  <a:srgbClr val="000000"/>
                </a:solidFill>
                <a:latin typeface="Inter"/>
                <a:ea typeface="Inter"/>
                <a:cs typeface="Inter"/>
                <a:sym typeface="Inter"/>
              </a:rPr>
              <a:t>method: Defines how the data is sent; "get" appends the data visibly to the end of the URL, while "post" sends it securely in the background.</a:t>
            </a:r>
          </a:p>
          <a:p>
            <a:pPr marL="604515" lvl="1" indent="-302257" algn="just">
              <a:lnSpc>
                <a:spcPts val="3919"/>
              </a:lnSpc>
              <a:buFont typeface="Arial"/>
              <a:buChar char="•"/>
            </a:pPr>
            <a:r>
              <a:rPr lang="en-US" sz="2799">
                <a:solidFill>
                  <a:srgbClr val="000000"/>
                </a:solidFill>
                <a:latin typeface="Inter"/>
                <a:ea typeface="Inter"/>
                <a:cs typeface="Inter"/>
                <a:sym typeface="Inter"/>
              </a:rPr>
              <a:t>for: Links a label to its corresponding input field, meaning if a user clicks the label text, the input box automatically focuses.</a:t>
            </a:r>
          </a:p>
          <a:p>
            <a:pPr marL="604515" lvl="1" indent="-302257" algn="just">
              <a:lnSpc>
                <a:spcPts val="3919"/>
              </a:lnSpc>
              <a:buFont typeface="Arial"/>
              <a:buChar char="•"/>
            </a:pPr>
            <a:r>
              <a:rPr lang="en-US" sz="2799">
                <a:solidFill>
                  <a:srgbClr val="000000"/>
                </a:solidFill>
                <a:latin typeface="Inter"/>
                <a:ea typeface="Inter"/>
                <a:cs typeface="Inter"/>
                <a:sym typeface="Inter"/>
              </a:rPr>
              <a:t>type: Determines the behavior and appearance of the input field, such as a basic text box ("text"), an email field with built-in validation ("email"), or a clickable button ("submit").</a:t>
            </a:r>
          </a:p>
          <a:p>
            <a:pPr marL="604515" lvl="1" indent="-302257" algn="just">
              <a:lnSpc>
                <a:spcPts val="3919"/>
              </a:lnSpc>
              <a:buFont typeface="Arial"/>
              <a:buChar char="•"/>
            </a:pPr>
            <a:r>
              <a:rPr lang="en-US" sz="2799">
                <a:solidFill>
                  <a:srgbClr val="000000"/>
                </a:solidFill>
                <a:latin typeface="Inter"/>
                <a:ea typeface="Inter"/>
                <a:cs typeface="Inter"/>
                <a:sym typeface="Inter"/>
              </a:rPr>
              <a:t>id: A unique identifier for the HTML element, used primarily to connect it with labels, CSS styling, or JavaScript.</a:t>
            </a:r>
          </a:p>
          <a:p>
            <a:pPr marL="604515" lvl="1" indent="-302257" algn="just">
              <a:lnSpc>
                <a:spcPts val="3919"/>
              </a:lnSpc>
              <a:buFont typeface="Arial"/>
              <a:buChar char="•"/>
            </a:pPr>
            <a:r>
              <a:rPr lang="en-US" sz="2799">
                <a:solidFill>
                  <a:srgbClr val="000000"/>
                </a:solidFill>
                <a:latin typeface="Inter"/>
                <a:ea typeface="Inter"/>
                <a:cs typeface="Inter"/>
                <a:sym typeface="Inter"/>
              </a:rPr>
              <a:t>name: The variable name that the server uses to identify the specific piece of data being submitted (e.g., name="email" means the server receives email=student@rvce.edu).</a:t>
            </a:r>
          </a:p>
          <a:p>
            <a:pPr marL="604515" lvl="1" indent="-302257" algn="just">
              <a:lnSpc>
                <a:spcPts val="3919"/>
              </a:lnSpc>
              <a:buFont typeface="Arial"/>
              <a:buChar char="•"/>
            </a:pPr>
            <a:r>
              <a:rPr lang="en-US" sz="2799">
                <a:solidFill>
                  <a:srgbClr val="000000"/>
                </a:solidFill>
                <a:latin typeface="Inter"/>
                <a:ea typeface="Inter"/>
                <a:cs typeface="Inter"/>
                <a:sym typeface="Inter"/>
              </a:rPr>
              <a:t>required: A built-in validation rule that prevents the form from submitting until the user fills out that specific field.</a:t>
            </a:r>
          </a:p>
          <a:p>
            <a:pPr algn="just">
              <a:lnSpc>
                <a:spcPts val="3919"/>
              </a:lnSpc>
            </a:pPr>
            <a:endParaRPr lang="en-US" sz="2799">
              <a:solidFill>
                <a:srgbClr val="000000"/>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46835"/>
            <a:ext cx="6540690"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SEMANTIC HTML</a:t>
            </a:r>
          </a:p>
        </p:txBody>
      </p:sp>
      <p:sp>
        <p:nvSpPr>
          <p:cNvPr id="3" name="TextBox 3"/>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12</a:t>
            </a:r>
          </a:p>
        </p:txBody>
      </p:sp>
      <p:sp>
        <p:nvSpPr>
          <p:cNvPr id="4" name="TextBox 4"/>
          <p:cNvSpPr txBox="1"/>
          <p:nvPr/>
        </p:nvSpPr>
        <p:spPr>
          <a:xfrm>
            <a:off x="1028700" y="2871139"/>
            <a:ext cx="16230600" cy="976675"/>
          </a:xfrm>
          <a:prstGeom prst="rect">
            <a:avLst/>
          </a:prstGeom>
        </p:spPr>
        <p:txBody>
          <a:bodyPr lIns="0" tIns="0" rIns="0" bIns="0" rtlCol="0" anchor="t">
            <a:spAutoFit/>
          </a:bodyPr>
          <a:lstStyle/>
          <a:p>
            <a:pPr algn="just">
              <a:lnSpc>
                <a:spcPts val="3919"/>
              </a:lnSpc>
            </a:pPr>
            <a:r>
              <a:rPr lang="en-US" sz="2799">
                <a:solidFill>
                  <a:srgbClr val="000000"/>
                </a:solidFill>
                <a:latin typeface="Inter"/>
                <a:ea typeface="Inter"/>
                <a:cs typeface="Inter"/>
                <a:sym typeface="Inter"/>
              </a:rPr>
              <a:t>Semantic HTML is </a:t>
            </a:r>
            <a:r>
              <a:rPr lang="en-US" sz="2799" b="1">
                <a:solidFill>
                  <a:srgbClr val="000000"/>
                </a:solidFill>
                <a:latin typeface="Inter Medium"/>
                <a:ea typeface="Inter Medium"/>
                <a:cs typeface="Inter Medium"/>
                <a:sym typeface="Inter Medium"/>
              </a:rPr>
              <a:t>the use of markup that clearly describes the meaning and role of its content to both browsers and developers, rather than just how it looks</a:t>
            </a:r>
          </a:p>
        </p:txBody>
      </p:sp>
      <p:sp>
        <p:nvSpPr>
          <p:cNvPr id="5" name="TextBox 5"/>
          <p:cNvSpPr txBox="1"/>
          <p:nvPr/>
        </p:nvSpPr>
        <p:spPr>
          <a:xfrm>
            <a:off x="1017468" y="4162138"/>
            <a:ext cx="16230600" cy="6257926"/>
          </a:xfrm>
          <a:prstGeom prst="rect">
            <a:avLst/>
          </a:prstGeom>
        </p:spPr>
        <p:txBody>
          <a:bodyPr lIns="0" tIns="0" rIns="0" bIns="0" rtlCol="0" anchor="t">
            <a:spAutoFit/>
          </a:bodyPr>
          <a:lstStyle/>
          <a:p>
            <a:pPr marL="647694" lvl="1" indent="-323847" algn="just">
              <a:lnSpc>
                <a:spcPts val="4199"/>
              </a:lnSpc>
              <a:buFont typeface="Arial"/>
              <a:buChar char="•"/>
            </a:pPr>
            <a:r>
              <a:rPr lang="en-US" sz="2999">
                <a:solidFill>
                  <a:srgbClr val="000000"/>
                </a:solidFill>
                <a:latin typeface="Inter"/>
                <a:ea typeface="Inter"/>
                <a:cs typeface="Inter"/>
                <a:sym typeface="Inter"/>
              </a:rPr>
              <a:t>&lt;header&gt;: Holds introductory content at the top of a page, such as a logo, website title, or search bar.</a:t>
            </a:r>
          </a:p>
          <a:p>
            <a:pPr marL="647694" lvl="1" indent="-323847" algn="just">
              <a:lnSpc>
                <a:spcPts val="4199"/>
              </a:lnSpc>
              <a:buFont typeface="Arial"/>
              <a:buChar char="•"/>
            </a:pPr>
            <a:r>
              <a:rPr lang="en-US" sz="2999">
                <a:solidFill>
                  <a:srgbClr val="000000"/>
                </a:solidFill>
                <a:latin typeface="Inter"/>
                <a:ea typeface="Inter"/>
                <a:cs typeface="Inter"/>
                <a:sym typeface="Inter"/>
              </a:rPr>
              <a:t>&lt;footer&gt;: Sits at the very bottom of a page or section, typically containing copyright notices, social links, or contact info.</a:t>
            </a:r>
          </a:p>
          <a:p>
            <a:pPr marL="647694" lvl="1" indent="-323847" algn="just">
              <a:lnSpc>
                <a:spcPts val="4199"/>
              </a:lnSpc>
              <a:buFont typeface="Arial"/>
              <a:buChar char="•"/>
            </a:pPr>
            <a:r>
              <a:rPr lang="en-US" sz="2999">
                <a:solidFill>
                  <a:srgbClr val="000000"/>
                </a:solidFill>
                <a:latin typeface="Inter"/>
                <a:ea typeface="Inter"/>
                <a:cs typeface="Inter"/>
                <a:sym typeface="Inter"/>
              </a:rPr>
              <a:t>&lt;nav&gt;: Wraps the major navigation links used to click around and explore the website.</a:t>
            </a:r>
          </a:p>
          <a:p>
            <a:pPr marL="647694" lvl="1" indent="-323847" algn="just">
              <a:lnSpc>
                <a:spcPts val="4199"/>
              </a:lnSpc>
              <a:buFont typeface="Arial"/>
              <a:buChar char="•"/>
            </a:pPr>
            <a:r>
              <a:rPr lang="en-US" sz="2999">
                <a:solidFill>
                  <a:srgbClr val="000000"/>
                </a:solidFill>
                <a:latin typeface="Inter"/>
                <a:ea typeface="Inter"/>
                <a:cs typeface="Inter"/>
                <a:sym typeface="Inter"/>
              </a:rPr>
              <a:t>&lt;main&gt;: Contains the primary, unique core content of the webpage, excluding repeated elements like sidebars or top menus.</a:t>
            </a:r>
          </a:p>
          <a:p>
            <a:pPr marL="647694" lvl="1" indent="-323847" algn="just">
              <a:lnSpc>
                <a:spcPts val="4199"/>
              </a:lnSpc>
              <a:buFont typeface="Arial"/>
              <a:buChar char="•"/>
            </a:pPr>
            <a:r>
              <a:rPr lang="en-US" sz="2999">
                <a:solidFill>
                  <a:srgbClr val="000000"/>
                </a:solidFill>
                <a:latin typeface="Inter"/>
                <a:ea typeface="Inter"/>
                <a:cs typeface="Inter"/>
                <a:sym typeface="Inter"/>
              </a:rPr>
              <a:t>&lt;section&gt;: Groups a block of related content together under a specific theme or heading (like a "Projects" or "Contact" section).</a:t>
            </a:r>
          </a:p>
          <a:p>
            <a:pPr marL="647694" lvl="1" indent="-323847" algn="just">
              <a:lnSpc>
                <a:spcPts val="4199"/>
              </a:lnSpc>
              <a:buFont typeface="Arial"/>
              <a:buChar char="•"/>
            </a:pPr>
            <a:r>
              <a:rPr lang="en-US" sz="2999">
                <a:solidFill>
                  <a:srgbClr val="000000"/>
                </a:solidFill>
                <a:latin typeface="Inter"/>
                <a:ea typeface="Inter"/>
                <a:cs typeface="Inter"/>
                <a:sym typeface="Inter"/>
              </a:rPr>
              <a:t>&lt;article&gt;: Holds an independent, self-contained piece of content that could be shared on its own, like a blog post, news story, or specific product card.</a:t>
            </a:r>
          </a:p>
          <a:p>
            <a:pPr algn="just">
              <a:lnSpc>
                <a:spcPts val="4199"/>
              </a:lnSpc>
            </a:pPr>
            <a:endParaRPr lang="en-US" sz="2999">
              <a:solidFill>
                <a:srgbClr val="000000"/>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46835"/>
            <a:ext cx="6540690" cy="1219178"/>
          </a:xfrm>
          <a:prstGeom prst="rect">
            <a:avLst/>
          </a:prstGeom>
        </p:spPr>
        <p:txBody>
          <a:bodyPr lIns="0" tIns="0" rIns="0" bIns="0" rtlCol="0" anchor="t">
            <a:spAutoFit/>
          </a:bodyPr>
          <a:lstStyle/>
          <a:p>
            <a:pPr algn="l">
              <a:lnSpc>
                <a:spcPts val="9600"/>
              </a:lnSpc>
            </a:pPr>
            <a:r>
              <a:rPr lang="en-US" sz="8000">
                <a:solidFill>
                  <a:srgbClr val="000000"/>
                </a:solidFill>
                <a:latin typeface="Anton"/>
                <a:ea typeface="Anton"/>
                <a:cs typeface="Anton"/>
                <a:sym typeface="Anton"/>
              </a:rPr>
              <a:t>EXERCISE</a:t>
            </a:r>
          </a:p>
        </p:txBody>
      </p:sp>
      <p:sp>
        <p:nvSpPr>
          <p:cNvPr id="3" name="TextBox 3"/>
          <p:cNvSpPr txBox="1"/>
          <p:nvPr/>
        </p:nvSpPr>
        <p:spPr>
          <a:xfrm>
            <a:off x="15897890" y="990600"/>
            <a:ext cx="1350178" cy="356235"/>
          </a:xfrm>
          <a:prstGeom prst="rect">
            <a:avLst/>
          </a:prstGeom>
        </p:spPr>
        <p:txBody>
          <a:bodyPr lIns="0" tIns="0" rIns="0" bIns="0" rtlCol="0" anchor="t">
            <a:spAutoFit/>
          </a:bodyPr>
          <a:lstStyle/>
          <a:p>
            <a:pPr algn="r">
              <a:lnSpc>
                <a:spcPts val="2940"/>
              </a:lnSpc>
            </a:pPr>
            <a:r>
              <a:rPr lang="en-US" sz="2100" b="1" dirty="0">
                <a:solidFill>
                  <a:srgbClr val="000000"/>
                </a:solidFill>
                <a:latin typeface="Inter Medium"/>
                <a:ea typeface="Inter Medium"/>
                <a:cs typeface="Inter Medium"/>
                <a:sym typeface="Inter Medium"/>
              </a:rPr>
              <a:t>Page 13</a:t>
            </a:r>
          </a:p>
        </p:txBody>
      </p:sp>
      <p:sp>
        <p:nvSpPr>
          <p:cNvPr id="4" name="TextBox 4"/>
          <p:cNvSpPr txBox="1"/>
          <p:nvPr/>
        </p:nvSpPr>
        <p:spPr>
          <a:xfrm>
            <a:off x="1028700" y="3068184"/>
            <a:ext cx="16230600" cy="4481549"/>
          </a:xfrm>
          <a:prstGeom prst="rect">
            <a:avLst/>
          </a:prstGeom>
        </p:spPr>
        <p:txBody>
          <a:bodyPr lIns="0" tIns="0" rIns="0" bIns="0" rtlCol="0" anchor="t">
            <a:spAutoFit/>
          </a:bodyPr>
          <a:lstStyle/>
          <a:p>
            <a:pPr algn="just">
              <a:lnSpc>
                <a:spcPts val="4479"/>
              </a:lnSpc>
            </a:pPr>
            <a:r>
              <a:rPr lang="en-US" sz="3199">
                <a:solidFill>
                  <a:srgbClr val="000000"/>
                </a:solidFill>
                <a:latin typeface="Inter"/>
                <a:ea typeface="Inter"/>
                <a:cs typeface="Inter"/>
                <a:sym typeface="Inter"/>
              </a:rPr>
              <a:t>Create a single-page Student Profile / Course Information webpage using semantic HTML5. Create index.html using the standard HTML5 document structure. Add a header containing the page title and a navigation section with internal links. Create sections containing headings, paragraphs, a list, an image with meaningful alt text, and a small table. Add a simple form containing name, email, course selection and a submit button. Use labels and appropriate HTML5 input types. Open the page in a browser, verify links and form controls, and inspect the document using browser developer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915</Words>
  <Application>Microsoft Office PowerPoint</Application>
  <PresentationFormat>Custom</PresentationFormat>
  <Paragraphs>64</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Inter Bold</vt:lpstr>
      <vt:lpstr>Inter Medium</vt:lpstr>
      <vt:lpstr>Arial</vt:lpstr>
      <vt:lpstr>Anton</vt:lpstr>
      <vt:lpstr>DM Sans</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Computer Presentation</dc:title>
  <cp:lastModifiedBy>aryashetty020206@outlook.com</cp:lastModifiedBy>
  <cp:revision>2</cp:revision>
  <dcterms:created xsi:type="dcterms:W3CDTF">2006-08-16T00:00:00Z</dcterms:created>
  <dcterms:modified xsi:type="dcterms:W3CDTF">2026-10-22T02:38:06Z</dcterms:modified>
  <dc:identifier>DAHYsVdO1cM</dc:identifier>
</cp:coreProperties>
</file>