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11"/>
    <p:sldId id="266" r:id="rId12"/>
    <p:sldId id="271" r:id="rId17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Ask: who has used Git before? Who has lost work to a file called final_v2? Set expectations: 1 hour: about 25 min of slides and demos, 25 min of lab, 5 min quick check. Everyone needs Git installed and a GitHub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project_final_v2 joke. Then link to the three benefits. Stress Git vs GitHub: Git is the tool, GitHub is the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open a terminal, run git --version. Everyone must see a version number before moving on. Use the same email as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on the board. Camera analogy: staging = arrange the frame, commit = shutter, push = upload. Ask students which area a file is in after each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first four in order (init, status, add, commit), then log; clone is just mention on a fresh folder. git status is the command to run constantly. Note -am only stages already tracked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branch is a movable pointer, cheap to create. Demo creating a branch, committing, then merging. Show git log --oneline --graph after the merge.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 only, 2 minutes: explain what a conflict is and what the markers mean. No live demo needed. Emphasise: Git asks, you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only, 2 minutes: do not go deep. Create an empty repo on GitHub first. Remote = a bookmark named origin. -u links your local branch to origin/main so plain push and pull work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only, 2 minutes. Show a real PR if time allows: files changed tab, comments, approve, merge.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students to screenshot this slide. Point out which groups they already used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25 minutes. Tasks 1-5 mirror the lab in the manual; task 6 is only if time allows. Circulate and unblock. Each task has a clear done-when so they can self-check.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 Staging area. 2 Git is the local version control tool; GitHub is the online hosting platform. 3 A snapshot of the project: commit ID, author, date/time, message. 4 A branch is an independent line of development; merge combines changes from one branch into another. 5 git log --oneline. Pairs discuss 1 minute, then cold-call.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materials link. Encourage students to push the lab repos to their GitHub profiles.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32720" y="2743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13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00584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&amp; GitHub: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Step-by-Step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Workshop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566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8F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fundamentals for Full Stack Developers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206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 •  Live demos  •  Hands-on lab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5778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STACK DEVELOPMENT SKILL LAB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Presenter Name  •  October 21, 2026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498080" y="914400"/>
            <a:ext cx="4114800" cy="4206240"/>
          </a:xfrm>
          <a:prstGeom prst="roundRect">
            <a:avLst>
              <a:gd name="adj" fmla="val 1778"/>
            </a:avLst>
          </a:prstGeom>
          <a:solidFill>
            <a:srgbClr val="1E232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26680" y="118872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--oneline --graph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a3f9c21 Merge feature/login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|\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* 7be10d4 Add login form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| 4c8e5aa Fix navbar bug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|/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1d2f9b0 Initial commit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4297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 is a snapshot you can return to.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8F2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32720" y="2743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2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Version Control?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records changes over time, giving every project history, safety, and a shared source of truth.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863840" y="146304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11121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46720" y="16002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project_final.zip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project_final_v2.zip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project_REAL_final.zip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all been here.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1520" y="30815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7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456432"/>
            <a:ext cx="32004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changed what, when and why.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297680" y="292608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480560" y="30815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7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480560" y="3456432"/>
            <a:ext cx="32004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back to a working version when something breaks.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046720" y="292608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229600" y="30815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7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TEAMWORK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0" y="3456432"/>
            <a:ext cx="32004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people edit one project without overwriting each other.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470916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486460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5239512"/>
            <a:ext cx="5074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Distributed, local, works offline.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on your computer; full history lives in the .git folder.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172200" y="470916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7A6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355080" y="486460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355080" y="5239512"/>
            <a:ext cx="5074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hosting, sharing and review.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pull requests, issues and backup. Alternatives: GitLab, Bitbucket.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32720" y="2743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2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 once. Configure clearly.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4846320" cy="1005840"/>
          </a:xfrm>
          <a:prstGeom prst="roundRect">
            <a:avLst>
              <a:gd name="adj" fmla="val 7273"/>
            </a:avLst>
          </a:prstGeom>
          <a:solidFill>
            <a:srgbClr val="C8F2D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8745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7A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920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from git-scm.com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4846320" cy="1005840"/>
          </a:xfrm>
          <a:prstGeom prst="roundRect">
            <a:avLst>
              <a:gd name="adj" fmla="val 7273"/>
            </a:avLst>
          </a:prstGeom>
          <a:solidFill>
            <a:srgbClr val="C8F2D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3063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7A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554480" y="3108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with the default options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069080"/>
            <a:ext cx="4846320" cy="1005840"/>
          </a:xfrm>
          <a:prstGeom prst="roundRect">
            <a:avLst>
              <a:gd name="adj" fmla="val 7273"/>
            </a:avLst>
          </a:prstGeom>
          <a:solidFill>
            <a:srgbClr val="C8F2D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2519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7A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554480" y="4297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same email as your GitHub account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669280" y="1691640"/>
            <a:ext cx="5943600" cy="3108960"/>
          </a:xfrm>
          <a:prstGeom prst="roundRect">
            <a:avLst>
              <a:gd name="adj" fmla="val 2353"/>
            </a:avLst>
          </a:prstGeom>
          <a:solidFill>
            <a:srgbClr val="1E232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897880" y="187452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--version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version 2.47.0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 user.name "Alex Kim"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 user.email "alex@example.com"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--list   # verify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help commit     # manual page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8DAE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31520" y="5422392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use Git Bash.  macOS: Terminal.  Linux: any shell.  Every command in this workshop is identical on all three.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7A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32720" y="2743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2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basic Git workflow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9385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UNTRACKED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06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 / clone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64992" y="16459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364992" y="19385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MODIFIED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3364992" y="2606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 file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81344" y="16459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181344" y="19385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STAGED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6181344" y="2606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997696" y="16459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C8F2D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997696" y="19385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COMMITTED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8997696" y="2606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32918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E232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31520" y="34472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WORKING DIRECTORY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3822192"/>
            <a:ext cx="224028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create and edit files normally.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3364992" y="32918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E232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547872" y="34472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STAGING AREA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547872" y="3822192"/>
            <a:ext cx="224028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waiting room: pick exactly what goes into the next snapshot.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181344" y="32918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E232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64224" y="34472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REPOSITORY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364224" y="3822192"/>
            <a:ext cx="224028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history in .git. Each snapshot is a commit.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997696" y="32918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E232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180576" y="34472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 (GITHUB)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9180576" y="3822192"/>
            <a:ext cx="224028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copy online. Move work with push and pull.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112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Stage the frame  →  press the shutter  →  upload the photo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32720" y="2743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Six commands you will use daily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1E232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8013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76272"/>
            <a:ext cx="32004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tracking the current folder.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337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7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164592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1E232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480560" y="18013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2176272"/>
            <a:ext cx="32004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remote repo with full history.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3337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7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46720" y="164592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1E232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0" y="18013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2176272"/>
            <a:ext cx="32004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Branch, changed and staged files.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3337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7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3977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1E232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31520" y="4133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4507992"/>
            <a:ext cx="32004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changes to the staging area.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5669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7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 | &lt;file&gt;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297680" y="3977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1E232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480560" y="4133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4480560" y="4507992"/>
            <a:ext cx="32004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permanent snapshot.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480560" y="5669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7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"msg"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046720" y="3977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1E2323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229600" y="4133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0" y="4507992"/>
            <a:ext cx="32004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history.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0" y="5669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7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= new project   |   clone = existing project   |   commit -am = stage tracked files and commit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8F2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32720" y="2743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2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Branch. Build. Merge.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feature/login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14400" y="2377440"/>
            <a:ext cx="5303520" cy="0"/>
          </a:xfrm>
          <a:prstGeom prst="line">
            <a:avLst/>
          </a:prstGeom>
          <a:noFill/>
          <a:ln w="38100">
            <a:solidFill>
              <a:srgbClr val="11121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108960" y="2377440"/>
            <a:ext cx="548640" cy="1188720"/>
          </a:xfrm>
          <a:prstGeom prst="line">
            <a:avLst/>
          </a:prstGeom>
          <a:noFill/>
          <a:ln w="38100">
            <a:solidFill>
              <a:srgbClr val="FF7A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0" y="3566160"/>
            <a:ext cx="822960" cy="0"/>
          </a:xfrm>
          <a:prstGeom prst="line">
            <a:avLst/>
          </a:prstGeom>
          <a:noFill/>
          <a:ln w="38100">
            <a:solidFill>
              <a:srgbClr val="FF7A6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4480560" y="2377440"/>
            <a:ext cx="640080" cy="1188720"/>
          </a:xfrm>
          <a:prstGeom prst="line">
            <a:avLst/>
          </a:prstGeom>
          <a:noFill/>
          <a:ln w="38100">
            <a:solidFill>
              <a:srgbClr val="FF7A6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" y="2221992"/>
            <a:ext cx="310896" cy="310896"/>
          </a:xfrm>
          <a:prstGeom prst="ellipse">
            <a:avLst/>
          </a:prstGeom>
          <a:solidFill>
            <a:srgbClr val="111212"/>
          </a:solidFill>
          <a:ln/>
        </p:spPr>
      </p:sp>
      <p:sp>
        <p:nvSpPr>
          <p:cNvPr id="12" name="Shape 9"/>
          <p:cNvSpPr/>
          <p:nvPr/>
        </p:nvSpPr>
        <p:spPr>
          <a:xfrm>
            <a:off x="1856232" y="2221992"/>
            <a:ext cx="310896" cy="310896"/>
          </a:xfrm>
          <a:prstGeom prst="ellipse">
            <a:avLst/>
          </a:prstGeom>
          <a:solidFill>
            <a:srgbClr val="111212"/>
          </a:solidFill>
          <a:ln/>
        </p:spPr>
      </p:sp>
      <p:sp>
        <p:nvSpPr>
          <p:cNvPr id="13" name="Shape 10"/>
          <p:cNvSpPr/>
          <p:nvPr/>
        </p:nvSpPr>
        <p:spPr>
          <a:xfrm>
            <a:off x="2953512" y="2221992"/>
            <a:ext cx="310896" cy="310896"/>
          </a:xfrm>
          <a:prstGeom prst="ellipse">
            <a:avLst/>
          </a:prstGeom>
          <a:solidFill>
            <a:srgbClr val="111212"/>
          </a:solidFill>
          <a:ln/>
        </p:spPr>
      </p:sp>
      <p:sp>
        <p:nvSpPr>
          <p:cNvPr id="14" name="Shape 11"/>
          <p:cNvSpPr/>
          <p:nvPr/>
        </p:nvSpPr>
        <p:spPr>
          <a:xfrm>
            <a:off x="4965192" y="2221992"/>
            <a:ext cx="310896" cy="310896"/>
          </a:xfrm>
          <a:prstGeom prst="ellipse">
            <a:avLst/>
          </a:prstGeom>
          <a:solidFill>
            <a:srgbClr val="111212"/>
          </a:solidFill>
          <a:ln/>
        </p:spPr>
      </p:sp>
      <p:sp>
        <p:nvSpPr>
          <p:cNvPr id="15" name="Shape 12"/>
          <p:cNvSpPr/>
          <p:nvPr/>
        </p:nvSpPr>
        <p:spPr>
          <a:xfrm>
            <a:off x="6062472" y="2221992"/>
            <a:ext cx="310896" cy="310896"/>
          </a:xfrm>
          <a:prstGeom prst="ellipse">
            <a:avLst/>
          </a:prstGeom>
          <a:solidFill>
            <a:srgbClr val="111212"/>
          </a:solidFill>
          <a:ln/>
        </p:spPr>
      </p:sp>
      <p:sp>
        <p:nvSpPr>
          <p:cNvPr id="16" name="Shape 13"/>
          <p:cNvSpPr/>
          <p:nvPr/>
        </p:nvSpPr>
        <p:spPr>
          <a:xfrm>
            <a:off x="3502152" y="3410712"/>
            <a:ext cx="310896" cy="310896"/>
          </a:xfrm>
          <a:prstGeom prst="ellipse">
            <a:avLst/>
          </a:prstGeom>
          <a:solidFill>
            <a:srgbClr val="FF7A66"/>
          </a:solidFill>
          <a:ln/>
        </p:spPr>
      </p:sp>
      <p:sp>
        <p:nvSpPr>
          <p:cNvPr id="17" name="Shape 14"/>
          <p:cNvSpPr/>
          <p:nvPr/>
        </p:nvSpPr>
        <p:spPr>
          <a:xfrm>
            <a:off x="4325112" y="3410712"/>
            <a:ext cx="310896" cy="310896"/>
          </a:xfrm>
          <a:prstGeom prst="ellipse">
            <a:avLst/>
          </a:prstGeom>
          <a:solidFill>
            <a:srgbClr val="FF7A66"/>
          </a:solidFill>
          <a:ln/>
        </p:spPr>
      </p:sp>
      <p:sp>
        <p:nvSpPr>
          <p:cNvPr id="18" name="Shape 15"/>
          <p:cNvSpPr/>
          <p:nvPr/>
        </p:nvSpPr>
        <p:spPr>
          <a:xfrm>
            <a:off x="548640" y="4434840"/>
            <a:ext cx="6309360" cy="1874520"/>
          </a:xfrm>
          <a:prstGeom prst="roundRect">
            <a:avLst>
              <a:gd name="adj" fmla="val 3902"/>
            </a:avLst>
          </a:prstGeom>
          <a:solidFill>
            <a:srgbClr val="1E232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4617720"/>
            <a:ext cx="5852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                  # list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checkout -b feature/login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checkout main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merge feature/login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 -d feature/login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315200" y="164592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498080" y="18013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FAST-FORWARD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498080" y="217627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has not moved, so Git just slides the pointer forward.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315200" y="324612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498080" y="34015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COMMIT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498080" y="377647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branches changed: a new commit joins them and keeps the story.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7315200" y="4846320"/>
            <a:ext cx="4297680" cy="1463040"/>
          </a:xfrm>
          <a:prstGeom prst="roundRect">
            <a:avLst>
              <a:gd name="adj" fmla="val 5000"/>
            </a:avLst>
          </a:prstGeom>
          <a:solidFill>
            <a:srgbClr val="FF7A66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498080" y="50017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 HABITS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498080" y="5376672"/>
            <a:ext cx="3931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branches named feature/..., fix/... Keep main always working.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32720" y="2743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Conflicts are conversations.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029200" cy="2286000"/>
          </a:xfrm>
          <a:prstGeom prst="roundRect">
            <a:avLst>
              <a:gd name="adj" fmla="val 3200"/>
            </a:avLst>
          </a:prstGeom>
          <a:solidFill>
            <a:srgbClr val="1E232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87452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7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7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&lt;h1&gt;My Site&lt;/h1&gt;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7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7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&lt;h1&gt;Our Website&lt;/h1&gt;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7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feature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062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======= is your branch (HEAD). Below is the incoming branch. Keep one, keep both, or write something new.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943600" y="169164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1E232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126480" y="1874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7A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21305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files marked both modified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943600" y="260604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1E232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126480" y="2788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7A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2697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 the file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0" y="30449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all three marker lines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943600" y="352044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1E232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126480" y="3703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7A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0" y="3611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&lt;file&gt;  →  git commit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583680" y="39593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resolved and finish the merge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943600" y="443484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1E232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126480" y="4617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7A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6583680" y="4526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--abort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583680" y="48737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out? cancel and start over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943600" y="5486400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C8F2DE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126480" y="5650992"/>
            <a:ext cx="5303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happen when two branches edit the same lines. Pull often to keep them small.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32720" y="2743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2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local repo to remote.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C8F2D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8013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REPO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76272"/>
            <a:ext cx="2926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• branch • offline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321040" y="16459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F7A6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03920" y="18013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 (GitHub)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503920" y="2176272"/>
            <a:ext cx="2926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• share • review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931920" y="1828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  →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931920" y="2423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 git fetch / git pull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337560"/>
            <a:ext cx="5760720" cy="2971800"/>
          </a:xfrm>
          <a:prstGeom prst="roundRect">
            <a:avLst>
              <a:gd name="adj" fmla="val 2462"/>
            </a:avLst>
          </a:prstGeom>
          <a:solidFill>
            <a:srgbClr val="1E232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" y="3520440"/>
            <a:ext cx="53035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add origin &lt;url&gt;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-v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main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fetch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pull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 -u origin/main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583680" y="333756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C8F2D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766560" y="350215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downloads only: your files are untouched.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583680" y="434340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C8F2D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766560" y="450799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= fetch + merge into your current branch.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583680" y="534924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F7A6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766560" y="551383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a Personal Access Token or SSH key. Passwords no longer work.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32720" y="2743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Collaborate through pull requests.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1E232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 CLONE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042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1E232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3108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 BRANCH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844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feature/navbar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206240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1E23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389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 COMMIT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8646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 &amp;&amp; git commit -m "..."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72200" y="1645920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1E232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0080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 PUSH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23042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feature/navbar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172200" y="2926080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FF7A6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 PULL REQUEST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0" y="35844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&amp; pull request on GitHub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72200" y="4206240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1E232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400800" y="4389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 REVIEW + MERGE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0" y="48646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Approve, merge, then git pull on main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8F2D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Golden rule: never work directly on main.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shows conflicts?  git pull origin main into your branch, resolve, push again.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8F2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32720" y="2743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2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cheat sheet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860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help &lt;cmd&gt;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64992" y="164592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547872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547872" y="22860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81344" y="164592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64224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364224" y="22860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&lt;file&gt;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997696" y="164592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80576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80576" y="22860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x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x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3977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3152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46177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--staged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HEAD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364992" y="3977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547872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UNDO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547872" y="46177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&lt;f&gt;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 &lt;id&gt;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reflog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181344" y="3977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64224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364224" y="46177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 / pull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997696" y="3977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180576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 + IGNORE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9180576" y="46177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/ pop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rm --cached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8F2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32720" y="2743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2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Hands-on lab: practise the core loop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8013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SETUP  (5 min)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76272"/>
            <a:ext cx="32004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git --version, then git init.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Done: git status runs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164592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480560" y="18013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COMMIT  (5 min)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2176272"/>
            <a:ext cx="32004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. and make 2 commits.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Done: log --oneline shows 2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46720" y="164592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0" y="18013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BRANCH  (5 min)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2176272"/>
            <a:ext cx="32004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switch to feature.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Done: * is on feature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06908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31520" y="42245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FEATURE  (5 min)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4599432"/>
            <a:ext cx="32004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 file, stage, commit.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5852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Done: new commit in the log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297680" y="406908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480560" y="42245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MERGE  (5 min)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480560" y="4599432"/>
            <a:ext cx="32004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main, merge feature.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480560" y="5852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Done: main has the changes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046720" y="406908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229600" y="42245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PUSH  (if time)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0" y="4599432"/>
            <a:ext cx="32004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1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origin, push to GitHub.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0" y="5852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Done: files visible on GitHub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32720" y="2743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Quick check: can you answer these?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E232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8928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7A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89280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area holds changes between editing and committing?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542032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E232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2743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7A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554480" y="27432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Git and GitHub?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3392424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E23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35935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7A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554480" y="359359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commit, and what does it contain?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48640" y="4242816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E232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7240" y="444398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7A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554480" y="444398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branch, and what does git merge do?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5093208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E232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77240" y="52943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7A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Q5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5294376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command shows the compact commit history?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8F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Discuss in pairs for one minute, then we answer together.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7A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32720" y="2743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13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91440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1112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you.</a:t>
            </a:r>
            <a:endParaRPr lang="en-US" sz="4800" dirty="0"/>
          </a:p>
          <a:p>
            <a:pPr indent="0" marL="0">
              <a:buNone/>
            </a:pPr>
            <a:r>
              <a:rPr lang="en-US" sz="4800" dirty="0">
                <a:solidFill>
                  <a:srgbClr val="1112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640080" y="3566160"/>
            <a:ext cx="6858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372160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LEARNING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41148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git-scm.com/doc   official documentation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skills.github.com   interactive GitHub courses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git-scm.com/book   the free Pro Git book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760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 materials  •  github.com/your-org/git-workshop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Stay curious. Ask for help. Keep committing.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412480" y="822960"/>
            <a:ext cx="3108960" cy="3108960"/>
          </a:xfrm>
          <a:prstGeom prst="ellipse">
            <a:avLst/>
          </a:prstGeom>
          <a:solidFill>
            <a:srgbClr val="C8F2DE"/>
          </a:solidFill>
          <a:ln/>
        </p:spPr>
      </p:sp>
      <p:sp>
        <p:nvSpPr>
          <p:cNvPr id="10" name="Shape 7"/>
          <p:cNvSpPr/>
          <p:nvPr/>
        </p:nvSpPr>
        <p:spPr>
          <a:xfrm>
            <a:off x="10424160" y="3200400"/>
            <a:ext cx="1280160" cy="1280160"/>
          </a:xfrm>
          <a:prstGeom prst="ellipse">
            <a:avLst/>
          </a:prstGeom>
          <a:solidFill>
            <a:srgbClr val="F8DAE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&amp; GitHub: A Step-by-Step Workshop</dc:title>
  <dc:subject>PptxGenJS Presentation</dc:subject>
  <dc:creator>PptxGenJS</dc:creator>
  <cp:lastModifiedBy>PptxGenJS</cp:lastModifiedBy>
  <cp:revision>1</cp:revision>
  <dcterms:created xsi:type="dcterms:W3CDTF">2026-10-21T16:55:10Z</dcterms:created>
  <dcterms:modified xsi:type="dcterms:W3CDTF">2026-10-21T16:55:10Z</dcterms:modified>
</cp:coreProperties>
</file>