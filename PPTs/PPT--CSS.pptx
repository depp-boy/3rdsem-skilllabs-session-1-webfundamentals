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8288000" cy="10287000"/>
  <p:notesSz cx="6858000" cy="9144000"/>
  <p:embeddedFontLst>
    <p:embeddedFont>
      <p:font typeface="Anton" pitchFamily="2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" pitchFamily="2" charset="0"/>
      <p:regular r:id="rId16"/>
    </p:embeddedFont>
    <p:embeddedFont>
      <p:font typeface="Inter" panose="020B0604020202020204" charset="0"/>
      <p:regular r:id="rId17"/>
    </p:embeddedFont>
    <p:embeddedFont>
      <p:font typeface="Inter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8324">
            <a:off x="1153800" y="7869185"/>
            <a:ext cx="969389" cy="1306774"/>
          </a:xfrm>
          <a:custGeom>
            <a:avLst/>
            <a:gdLst/>
            <a:ahLst/>
            <a:cxnLst/>
            <a:rect l="l" t="t" r="r" b="b"/>
            <a:pathLst>
              <a:path w="969389" h="1306774">
                <a:moveTo>
                  <a:pt x="0" y="0"/>
                </a:moveTo>
                <a:lnTo>
                  <a:pt x="969389" y="0"/>
                </a:lnTo>
                <a:lnTo>
                  <a:pt x="969389" y="1306774"/>
                </a:lnTo>
                <a:lnTo>
                  <a:pt x="0" y="1306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414666" y="2166144"/>
            <a:ext cx="1127677" cy="1127677"/>
          </a:xfrm>
          <a:custGeom>
            <a:avLst/>
            <a:gdLst/>
            <a:ahLst/>
            <a:cxnLst/>
            <a:rect l="l" t="t" r="r" b="b"/>
            <a:pathLst>
              <a:path w="1127677" h="1127677">
                <a:moveTo>
                  <a:pt x="0" y="0"/>
                </a:moveTo>
                <a:lnTo>
                  <a:pt x="1127677" y="0"/>
                </a:lnTo>
                <a:lnTo>
                  <a:pt x="1127677" y="1127677"/>
                </a:lnTo>
                <a:lnTo>
                  <a:pt x="0" y="1127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241873" y="3142313"/>
            <a:ext cx="6498691" cy="5036486"/>
          </a:xfrm>
          <a:custGeom>
            <a:avLst/>
            <a:gdLst/>
            <a:ahLst/>
            <a:cxnLst/>
            <a:rect l="l" t="t" r="r" b="b"/>
            <a:pathLst>
              <a:path w="6498691" h="5036486">
                <a:moveTo>
                  <a:pt x="0" y="0"/>
                </a:moveTo>
                <a:lnTo>
                  <a:pt x="6498691" y="0"/>
                </a:lnTo>
                <a:lnTo>
                  <a:pt x="6498691" y="5036486"/>
                </a:lnTo>
                <a:lnTo>
                  <a:pt x="0" y="5036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9465079" y="3054039"/>
            <a:ext cx="8046720" cy="3291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480"/>
              </a:lnSpc>
            </a:pPr>
            <a:r>
              <a:rPr sz="10400">
                <a:solidFill>
                  <a:srgbClr val="000000"/>
                </a:solidFill>
                <a:latin typeface="Anton"/>
              </a:rPr>
              <a:t>CSS</a:t>
            </a:r>
          </a:p>
          <a:p>
            <a:r>
              <a:rPr sz="10400">
                <a:solidFill>
                  <a:srgbClr val="000000"/>
                </a:solidFill>
                <a:latin typeface="Anton"/>
              </a:rPr>
              <a:t>FUNDAMENTALS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65079" y="6307219"/>
            <a:ext cx="7107899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200" dirty="0">
                <a:solidFill>
                  <a:srgbClr val="222222"/>
                </a:solidFill>
                <a:latin typeface="Inter"/>
              </a:rPr>
              <a:t>Skill Lab Module 1: </a:t>
            </a:r>
            <a:r>
              <a:rPr lang="en-US" sz="2200" dirty="0">
                <a:solidFill>
                  <a:srgbClr val="222222"/>
                </a:solidFill>
                <a:latin typeface="Inter"/>
              </a:rPr>
              <a:t>CSS</a:t>
            </a:r>
            <a:r>
              <a:rPr sz="2200" dirty="0">
                <a:solidFill>
                  <a:srgbClr val="222222"/>
                </a:solidFill>
                <a:latin typeface="Inter"/>
              </a:rPr>
              <a:t>, Selectors &amp; The CSS Box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97890" y="990600"/>
            <a:ext cx="1350178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65410" y="4114756"/>
            <a:ext cx="3149255" cy="1028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6"/>
              </a:lnSpc>
            </a:pPr>
            <a:r>
              <a:rPr lang="en-US" sz="6830">
                <a:solidFill>
                  <a:srgbClr val="F6DEB4"/>
                </a:solidFill>
                <a:latin typeface="DM Sans"/>
                <a:ea typeface="DM Sans"/>
                <a:cs typeface="DM Sans"/>
                <a:sym typeface="DM Sans"/>
              </a:rPr>
              <a:t>&lt;CSS&gt;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WHAT IS CSS?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Inter"/>
              </a:rPr>
              <a:t>CSS (Cascading Style Sheets) defines how HTML content is presented, sized, spaced, and aligned.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429000"/>
            <a:ext cx="8961120" cy="5303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Anatomy of a CSS Rule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1. Selector: </a:t>
            </a:r>
            <a:r>
              <a:rPr sz="2400">
                <a:solidFill>
                  <a:srgbClr val="111111"/>
                </a:solidFill>
                <a:latin typeface="Inter"/>
              </a:rPr>
              <a:t>Points to the HTML element(s) you want to style (e.g., h1, .card, #main).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2. Declaration Block { }: </a:t>
            </a:r>
            <a:r>
              <a:rPr sz="2400">
                <a:solidFill>
                  <a:srgbClr val="111111"/>
                </a:solidFill>
                <a:latin typeface="Inter"/>
              </a:rPr>
              <a:t>Surrounded by curly braces; contains one or more styling rules.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3. Property: </a:t>
            </a:r>
            <a:r>
              <a:rPr sz="2400">
                <a:solidFill>
                  <a:srgbClr val="111111"/>
                </a:solidFill>
                <a:latin typeface="Inter"/>
              </a:rPr>
              <a:t>The visual feature you want to change (e.g., color, font-size, padding).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4. Value: </a:t>
            </a:r>
            <a:r>
              <a:rPr sz="2400">
                <a:solidFill>
                  <a:srgbClr val="111111"/>
                </a:solidFill>
                <a:latin typeface="Inter"/>
              </a:rPr>
              <a:t>The setting assigned to the property (e.g., blue, 24px), ending with a semicolon (;).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20" y="3429000"/>
            <a:ext cx="6903720" cy="530352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61DAFB"/>
                </a:solidFill>
                <a:latin typeface="Inter"/>
              </a:rPr>
              <a:t>📄 CSS Rule Syntax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98C379"/>
                </a:solidFill>
                <a:latin typeface="Consolas"/>
              </a:rPr>
              <a:t>/* General Syntax */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selector {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  property: value;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4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98C379"/>
                </a:solidFill>
                <a:latin typeface="Consolas"/>
              </a:rPr>
              <a:t>/* Real Example */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h1 {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  color: blue;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  font-size: 36px;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    text-align: center;</a:t>
            </a:r>
          </a:p>
          <a:p>
            <a:pPr>
              <a:spcAft>
                <a:spcPts val="200"/>
              </a:spcAft>
            </a:pPr>
            <a:r>
              <a:rPr sz="2400">
                <a:solidFill>
                  <a:srgbClr val="F8F8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HOW THE CASCADE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37744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00000"/>
                </a:solidFill>
                <a:latin typeface="Inter"/>
              </a:rPr>
              <a:t>Why is it called 'Cascading'? When multiple rules target the same element, how does the browser pick a winner?</a:t>
            </a:r>
          </a:p>
        </p:txBody>
      </p:sp>
      <p:pic>
        <p:nvPicPr>
          <p:cNvPr id="5" name="Picture 4" descr="CSS--Reduced Manual.pdf_p1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246120"/>
            <a:ext cx="7863840" cy="5897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235440" y="3246120"/>
            <a:ext cx="8001000" cy="58978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4 Tie-Breaking Rules (Demo: 8.cascading_specificity.html)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1. Origin &amp; Importance: </a:t>
            </a:r>
            <a:r>
              <a:rPr sz="2300">
                <a:solidFill>
                  <a:srgbClr val="111111"/>
                </a:solidFill>
                <a:latin typeface="Inter"/>
              </a:rPr>
              <a:t>Author stylesheets override browser defaults (!important beats all).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2. Inline Styles: </a:t>
            </a:r>
            <a:r>
              <a:rPr sz="2300">
                <a:solidFill>
                  <a:srgbClr val="111111"/>
                </a:solidFill>
                <a:latin typeface="Inter"/>
              </a:rPr>
              <a:t>style='...' directly on an HTML tag beats &lt;style&gt; and external .css rules.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3. Specificity Hierarchy: </a:t>
            </a:r>
            <a:r>
              <a:rPr sz="2300">
                <a:solidFill>
                  <a:srgbClr val="111111"/>
                </a:solidFill>
                <a:latin typeface="Inter"/>
              </a:rPr>
              <a:t>More specific selectors always win:
   ID (#id)  &gt;  Class (.class)  &gt;  Element (p, h1)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4. Source Order: </a:t>
            </a:r>
            <a:r>
              <a:rPr sz="2300">
                <a:solidFill>
                  <a:srgbClr val="111111"/>
                </a:solidFill>
                <a:latin typeface="Inter"/>
              </a:rPr>
              <a:t>If two rules have the exact same specificity, the rule written LATER in the CSS file wins!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6.1 APPLYING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000000"/>
                </a:solidFill>
                <a:latin typeface="Inter"/>
              </a:rPr>
              <a:t>Three methods to attach CSS to HTML (Demos in CSS/Methods_of_using_CSS/):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154680"/>
          <a:ext cx="16230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nter"/>
                        </a:rPr>
                        <a:t>Method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nter"/>
                        </a:rPr>
                        <a:t>Mechanism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Inter"/>
                        </a:rPr>
                        <a:t>Suitable Use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000000"/>
                          </a:solidFill>
                          <a:latin typeface="Inter"/>
                        </a:rPr>
                        <a:t>Inline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Inter"/>
                        </a:rPr>
                        <a:t>style attribute directly on an HTML element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Inter"/>
                        </a:rPr>
                        <a:t>Small demonstrations &amp; quick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000000"/>
                          </a:solidFill>
                          <a:latin typeface="Inter"/>
                        </a:rPr>
                        <a:t>Internal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Consolas"/>
                        </a:rPr>
                        <a:t>&lt;style&gt; block inside the &lt;head&gt; of the HTML file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Inter"/>
                        </a:rPr>
                        <a:t>Single-page prototypes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000000"/>
                          </a:solidFill>
                          <a:latin typeface="Inter"/>
                        </a:rPr>
                        <a:t>External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Consolas"/>
                        </a:rPr>
                        <a:t>Separate .css file linked using &lt;link&gt; in &lt;head&gt;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0">
                          <a:solidFill>
                            <a:srgbClr val="000000"/>
                          </a:solidFill>
                          <a:latin typeface="Inter"/>
                        </a:rPr>
                        <a:t>Maintainable, multi-page applications (Preferred!)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024128" y="6263640"/>
            <a:ext cx="5120640" cy="31089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inline.html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&lt;h1 style="color: blue;"&gt;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Hello World!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&lt;/h1&gt;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65392" y="6263640"/>
            <a:ext cx="5120640" cy="31089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internal.html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&lt;head&gt;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&lt;style&gt;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  h1 { color: blue; }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&lt;/style&gt;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&lt;/head&gt;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15800" y="6263640"/>
            <a:ext cx="5120640" cy="31089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external.html + external.css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&lt;head&gt;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&lt;link rel="stylesheet"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      href="external.css"&gt;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&lt;/head&gt;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6.2 ESSENTIAL CSS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0">
                <a:solidFill>
                  <a:srgbClr val="000000"/>
                </a:solidFill>
                <a:latin typeface="Inter"/>
              </a:rPr>
              <a:t>Selectors tell CSS exactly WHICH HTML elements to style (Demos in CSS/Essential_Selectors/):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154680"/>
          <a:ext cx="162306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Selector Type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Example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Isolated Demo File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Element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all elements of that tag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1.element_selector.html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Class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.card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reusable components (starts with .)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2.class_selector.html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#main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a single element with a unique ID (starts with #)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3.id_selector.html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Descendant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.card p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matching descendants anywhere inside .card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4.descendant_selector.html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.card &gt;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ONLY direct children of .card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5.child_selector.html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Attribute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input[type='email']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elements by their HTML attribute value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6.attribute_selector.html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Pseudo-class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button:hover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Targets a special state or condition (mouse hover)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7.pseudoclass_selector.html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ELEMENT, CLASS &amp; ID SELECTORS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000000"/>
                </a:solidFill>
                <a:latin typeface="Inter"/>
              </a:rPr>
              <a:t>Comparing the 3 foundational selectors one by one: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291840"/>
            <a:ext cx="5120640" cy="58521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61DAFB"/>
                </a:solidFill>
                <a:latin typeface="Inter"/>
              </a:rPr>
              <a:t>📄 1. Element Selector (p)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Targets ALL &lt;p&gt; tags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p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color: blue;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1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&lt;p&gt;Styled paragraph 1&lt;/p&gt;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&lt;p&gt;Styled paragraph 2&lt;/p&gt;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65392" y="3291840"/>
            <a:ext cx="5120640" cy="58521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61DAFB"/>
                </a:solidFill>
                <a:latin typeface="Inter"/>
              </a:rPr>
              <a:t>📄 2. Class Selector (.card)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Reusable! Starts with dot (.)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.card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border: 2px solid red;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1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&lt;div class="card"&gt;Card 1&lt;/div&gt;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&lt;div class="card"&gt;Card 2&lt;/div&gt;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15800" y="3291840"/>
            <a:ext cx="5120640" cy="585216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61DAFB"/>
                </a:solidFill>
                <a:latin typeface="Inter"/>
              </a:rPr>
              <a:t>📄 3. ID Selector (#main)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Unique! Starts with hash (#)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#main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background: lightgreen;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1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&lt;!-- Use only ONCE per page --&gt;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&lt;div id="main"&gt;Main Box&lt;/div&gt;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COMBINATORS, ATTRIBUTE &amp; HOVER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" y="2606040"/>
            <a:ext cx="7863840" cy="667512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4 &amp; 5. Descendant (space) vs Child (&gt;)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98C379"/>
                </a:solidFill>
                <a:latin typeface="Consolas"/>
              </a:rPr>
              <a:t>/* Descendant: ANY &lt;p&gt; inside .card */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.card p { color: darkblue; }</a:t>
            </a:r>
          </a:p>
          <a:p>
            <a:pPr>
              <a:spcAft>
                <a:spcPts val="200"/>
              </a:spcAft>
            </a:pPr>
            <a:endParaRPr sz="20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98C379"/>
                </a:solidFill>
                <a:latin typeface="Consolas"/>
              </a:rPr>
              <a:t>/* Child: ONLY direct &lt;p&gt; child of .card */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.card &gt; p { font-weight: bold; }</a:t>
            </a:r>
          </a:p>
          <a:p>
            <a:pPr>
              <a:spcAft>
                <a:spcPts val="200"/>
              </a:spcAft>
            </a:pPr>
            <a:endParaRPr sz="20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&lt;div class="card"&gt;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&lt;p&gt;Direct Child (Both apply!)&lt;/p&gt;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&lt;div&gt;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  &lt;p&gt;Grandchild (Only .card p applies!)&lt;/p&gt;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&lt;/div&gt;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2606040"/>
            <a:ext cx="7955279" cy="315468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6. Attribute Selector ([type='email'])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98C379"/>
                </a:solidFill>
                <a:latin typeface="Consolas"/>
              </a:rPr>
              <a:t>/* Targets ONLY email inputs, ignores text inputs */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input[type='email'] {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border: 2px solid blue;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0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&lt;input type="text"&gt;  &lt;!-- Ignored --&gt;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&lt;input type="email"&gt; &lt;!-- Styled! --&gt;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6080760"/>
            <a:ext cx="7955279" cy="320040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61DAFB"/>
                </a:solidFill>
                <a:latin typeface="Inter"/>
              </a:rPr>
              <a:t>📄 7. Pseudo-class Selector (button:hover)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98C379"/>
                </a:solidFill>
                <a:latin typeface="Consolas"/>
              </a:rPr>
              <a:t>/* Triggers when user hovers mouse over button */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button:hover {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background-color: green;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  color: white;</a:t>
            </a: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0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000">
                <a:solidFill>
                  <a:srgbClr val="F8F8F2"/>
                </a:solidFill>
                <a:latin typeface="Consolas"/>
              </a:rPr>
              <a:t>&lt;button&gt;Hover Over Me!&lt;/button&gt;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7. THE CSS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37744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Inter"/>
              </a:rPr>
              <a:t>Every rendered HTML element occupies a rectangular box consisting of Content, Padding, Border, and Margin.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154680"/>
          <a:ext cx="932688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0432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Meaning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Typical Properties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1.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Actual text, image, or child content at the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width,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2. Padding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Internal spacing between the content and the border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padding (padding-top, etc.)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3. Border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Visible boundary line around the padding and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border (e.g., 4px solid blue)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4. Margin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External transparent space outside the border (pushes neighbors away)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margin (e.g., margin: 20px)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744200" y="3154680"/>
            <a:ext cx="6492240" cy="5852160"/>
          </a:xfrm>
          <a:prstGeom prst="rect">
            <a:avLst/>
          </a:prstGeom>
          <a:solidFill>
            <a:srgbClr val="FDE68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32461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Inter"/>
              </a:rPr>
              <a:t>MARGIN (External Space)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92840" y="3794760"/>
            <a:ext cx="5394960" cy="4663440"/>
          </a:xfrm>
          <a:prstGeom prst="rect">
            <a:avLst/>
          </a:prstGeom>
          <a:solidFill>
            <a:srgbClr val="93C5FD"/>
          </a:solidFill>
          <a:ln w="508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2144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Inter"/>
              </a:rPr>
              <a:t>BORDER (Boundary Line)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41480" y="4434840"/>
            <a:ext cx="4297680" cy="3474720"/>
          </a:xfrm>
          <a:prstGeom prst="rect">
            <a:avLst/>
          </a:prstGeom>
          <a:solidFill>
            <a:srgbClr val="A7F3D0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0" y="45262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Inter"/>
              </a:rPr>
              <a:t>PADDING (Internal Space)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90120" y="5166360"/>
            <a:ext cx="32004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000000"/>
                </a:solidFill>
                <a:latin typeface="Inter"/>
              </a:rPr>
              <a:t>CONTENT
(Text / Image)
width × height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7.1 BOX SIZING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" y="2560320"/>
            <a:ext cx="8778240" cy="6675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content-box vs border-box (Demo: CSS/Box_Model/)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1. content-box (Browser Default): </a:t>
            </a:r>
            <a:r>
              <a:rPr sz="2300">
                <a:solidFill>
                  <a:srgbClr val="111111"/>
                </a:solidFill>
                <a:latin typeface="Inter"/>
              </a:rPr>
              <a:t>Padding and border are ADDED outside the declared width.
   Example: width: 300px + padding: 30px (×2) + border: 10px (×2) = 380px actual width!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2. border-box (Recommended Best Practice): </a:t>
            </a:r>
            <a:r>
              <a:rPr sz="2300">
                <a:solidFill>
                  <a:srgbClr val="111111"/>
                </a:solidFill>
                <a:latin typeface="Inter"/>
              </a:rPr>
              <a:t>Declared width INCLUDES content, padding, and border.
   Example: width: 300px with padding &amp; border stays strictly 300px total!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3. Responsive Container &amp; Image: </a:t>
            </a:r>
            <a:r>
              <a:rPr sz="2300">
                <a:solidFill>
                  <a:srgbClr val="111111"/>
                </a:solidFill>
                <a:latin typeface="Inter"/>
              </a:rPr>
              <a:t>Use percentage width (92%) with a max-width cap (1200px) and max-width: 100% on images so nothing overflows on mobile 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04120" y="2560320"/>
            <a:ext cx="7132320" cy="6675120"/>
          </a:xfrm>
          <a:prstGeom prst="roundRect">
            <a:avLst/>
          </a:prstGeom>
          <a:solidFill>
            <a:srgbClr val="1E222A"/>
          </a:solidFill>
          <a:ln w="25400">
            <a:solidFill>
              <a:srgbClr val="3E4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61DAFB"/>
                </a:solidFill>
                <a:latin typeface="Inter"/>
              </a:rPr>
              <a:t>📄 3.responsive_container_and_img.html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1. Universal border-box reset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*, *::before, *::after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box-sizing: border-box;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1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2. Flexible centered container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.container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width: 92%;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max-width: 1200px;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margin: 0 auto;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endParaRPr sz="2100">
              <a:solidFill>
                <a:srgbClr val="F8F8F2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98C379"/>
                </a:solidFill>
                <a:latin typeface="Consolas"/>
              </a:rPr>
              <a:t>/* 3. Responsive image rule */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img {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max-width: 100%;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  height: auto;</a:t>
            </a:r>
          </a:p>
          <a:p>
            <a:pPr>
              <a:spcAft>
                <a:spcPts val="200"/>
              </a:spcAft>
            </a:pPr>
            <a:r>
              <a:rPr sz="2100">
                <a:solidFill>
                  <a:srgbClr val="F8F8F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1330</Words>
  <Application>Microsoft Office PowerPoint</Application>
  <PresentationFormat>Custom</PresentationFormat>
  <Paragraphs>202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Anton</vt:lpstr>
      <vt:lpstr>Inter</vt:lpstr>
      <vt:lpstr>DM Sans</vt:lpstr>
      <vt:lpstr>Arial</vt:lpstr>
      <vt:lpstr>Inter Medium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Presentation</dc:title>
  <cp:lastModifiedBy>aryashetty020206@outlook.com</cp:lastModifiedBy>
  <cp:revision>2</cp:revision>
  <dcterms:created xsi:type="dcterms:W3CDTF">2006-08-16T00:00:00Z</dcterms:created>
  <dcterms:modified xsi:type="dcterms:W3CDTF">2026-10-22T04:02:51Z</dcterms:modified>
  <dc:identifier>DAHYg9-ELBc</dc:identifier>
</cp:coreProperties>
</file>